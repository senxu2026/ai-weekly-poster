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5" r:id="rId31"/>
  </p:sldIdLst>
  <p:sldSz cx="12203430" cy="68757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0000" y="0"/>
            <a:ext cx="0" cy="687600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92000" y="0"/>
            <a:ext cx="0" cy="687600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84000" y="0"/>
            <a:ext cx="0" cy="687600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76000" y="0"/>
            <a:ext cx="0" cy="687600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8000" y="0"/>
            <a:ext cx="0" cy="687600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60000" y="0"/>
            <a:ext cx="0" cy="687600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52000" y="0"/>
            <a:ext cx="0" cy="687600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4000" y="0"/>
            <a:ext cx="0" cy="687600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36000" y="0"/>
            <a:ext cx="0" cy="687600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28000" y="0"/>
            <a:ext cx="0" cy="687600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20000" y="0"/>
            <a:ext cx="0" cy="687600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12000" y="0"/>
            <a:ext cx="0" cy="687600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04000" y="0"/>
            <a:ext cx="0" cy="687600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96000" y="0"/>
            <a:ext cx="0" cy="687600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00000"/>
            <a:ext cx="12204000" cy="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692000"/>
            <a:ext cx="12204000" cy="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484000"/>
            <a:ext cx="12204000" cy="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276000"/>
            <a:ext cx="12204000" cy="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068000"/>
            <a:ext cx="12204000" cy="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860000"/>
            <a:ext cx="12204000" cy="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652000"/>
            <a:ext cx="12204000" cy="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44000"/>
            <a:ext cx="12204000" cy="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0000" y="720000"/>
            <a:ext cx="288000" cy="3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0000" y="720000"/>
            <a:ext cx="36000" cy="28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872000" y="720000"/>
            <a:ext cx="288000" cy="3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60000" y="720000"/>
            <a:ext cx="36000" cy="28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0000" y="5760000"/>
            <a:ext cx="288000" cy="3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0000" y="5472000"/>
            <a:ext cx="36000" cy="28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872000" y="5760000"/>
            <a:ext cx="288000" cy="3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60000" y="5472000"/>
            <a:ext cx="36000" cy="28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68000" y="1835999"/>
            <a:ext cx="914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AI 信息周报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368000" y="2808000"/>
            <a:ext cx="914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Artificial Intelligence Weekly Report</a:t>
            </a:r>
            <a:endParaRPr>
              <a:latin typeface="Times New Roman" panose="020205030504050903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368000" y="3096000"/>
            <a:ext cx="3671999" cy="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68000" y="3384000"/>
            <a:ext cx="72000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2026/06/15  ·  周</a:t>
            </a:r>
            <a:r>
              <a:rPr lang="zh-CN">
                <a:latin typeface="PingFang SC" panose="020B0400000000000000" charset="-122"/>
              </a:rPr>
              <a:t>一</a:t>
            </a:r>
            <a:r>
              <a:rPr>
                <a:latin typeface="PingFang SC" panose="020B0400000000000000" charset="-122"/>
              </a:rPr>
              <a:t>发布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368000" y="4932000"/>
            <a:ext cx="1872000" cy="396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#超级App入口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420000" y="4932000"/>
            <a:ext cx="1872000" cy="396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#调用量反超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472000" y="4932000"/>
            <a:ext cx="1872000" cy="396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#世界模型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524000" y="4932000"/>
            <a:ext cx="1872000" cy="396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#具身智能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9576000" y="4932000"/>
            <a:ext cx="1872000" cy="396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#AI政策</a:t>
            </a:r>
            <a:endParaRPr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本周速览 · 国内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0000" y="1007999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WEEKLY OVERVIEW  ·  8 条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0000" y="1548000"/>
            <a:ext cx="2484000" cy="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0000" y="1800000"/>
            <a:ext cx="2556000" cy="2015999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Ins="108000" rtlCol="0" anchor="ctr"/>
          <a:lstStyle/>
          <a:p>
            <a:pPr algn="ctr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01</a:t>
            </a:r>
            <a:endParaRPr>
              <a:latin typeface="Times New Roman" panose="02020503050405090304"/>
            </a:endParaRP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微信发布 AI 生态开发者指引，AI Agent 正式面向小程序开发者开放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800"/>
              </a:spcBef>
              <a:defRPr sz="8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6 月 9 日</a:t>
            </a:r>
            <a:endParaRPr>
              <a:latin typeface="PingFang SC" panose="020B0400000000000000" charset="-122"/>
            </a:endParaRPr>
          </a:p>
          <a:p>
            <a:pPr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`超级入口` `应用Agent`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20000" y="1800000"/>
            <a:ext cx="2556000" cy="2015999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Ins="108000" rtlCol="0" anchor="ctr"/>
          <a:lstStyle/>
          <a:p>
            <a:pPr algn="ctr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02</a:t>
            </a:r>
            <a:endParaRPr>
              <a:latin typeface="Times New Roman" panose="02020503050405090304"/>
            </a:endParaRP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中国大模型周调用量连续 6 周超越美国，全球 Top5 占 4 席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800"/>
              </a:spcBef>
              <a:defRPr sz="8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6 月 9 日</a:t>
            </a:r>
            <a:endParaRPr>
              <a:latin typeface="PingFang SC" panose="020B0400000000000000" charset="-122"/>
            </a:endParaRPr>
          </a:p>
          <a:p>
            <a:pPr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`调用量` `国产模型`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20000" y="1800000"/>
            <a:ext cx="2556000" cy="2015999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Ins="108000" rtlCol="0" anchor="ctr"/>
          <a:lstStyle/>
          <a:p>
            <a:pPr algn="ctr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03</a:t>
            </a:r>
            <a:endParaRPr>
              <a:latin typeface="Times New Roman" panose="02020503050405090304"/>
            </a:endParaRP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工信部印发"AI+信息通信"实施意见，明确 1ms 算力圈与 AI 终端路线图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800"/>
              </a:spcBef>
              <a:defRPr sz="8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6 月 10 日</a:t>
            </a:r>
            <a:endParaRPr>
              <a:latin typeface="PingFang SC" panose="020B0400000000000000" charset="-122"/>
            </a:endParaRPr>
          </a:p>
          <a:p>
            <a:pPr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`算力网络` `政策`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820000" y="1800000"/>
            <a:ext cx="2556000" cy="2015999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Ins="108000" rtlCol="0" anchor="ctr"/>
          <a:lstStyle/>
          <a:p>
            <a:pPr algn="ctr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04</a:t>
            </a:r>
            <a:endParaRPr>
              <a:latin typeface="Times New Roman" panose="02020503050405090304"/>
            </a:endParaRP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国家网信办、市场监管总局联合印发《网络测评活动规范》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800"/>
              </a:spcBef>
              <a:defRPr sz="8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6 月 9 日</a:t>
            </a:r>
            <a:endParaRPr>
              <a:latin typeface="PingFang SC" panose="020B0400000000000000" charset="-122"/>
            </a:endParaRPr>
          </a:p>
          <a:p>
            <a:pPr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`AI评测` `内容治理`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0000" y="3996000"/>
            <a:ext cx="2556000" cy="2015999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Ins="108000" rtlCol="0" anchor="ctr"/>
          <a:lstStyle/>
          <a:p>
            <a:pPr algn="ctr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05</a:t>
            </a:r>
            <a:endParaRPr>
              <a:latin typeface="Times New Roman" panose="02020503050405090304"/>
            </a:endParaRP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智源大会发布"悟界"世界模型系列，Kimi K2.7 Code 编程模型开源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800"/>
              </a:spcBef>
              <a:defRPr sz="8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6 月 12 日</a:t>
            </a:r>
            <a:endParaRPr>
              <a:latin typeface="PingFang SC" panose="020B0400000000000000" charset="-122"/>
            </a:endParaRPr>
          </a:p>
          <a:p>
            <a:pPr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`世界模型` `编程模型`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20000" y="3996000"/>
            <a:ext cx="2556000" cy="2015999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Ins="108000" rtlCol="0" anchor="ctr"/>
          <a:lstStyle/>
          <a:p>
            <a:pPr algn="ctr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06</a:t>
            </a:r>
            <a:endParaRPr>
              <a:latin typeface="Times New Roman" panose="02020503050405090304"/>
            </a:endParaRP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外媒报道蚂蚁集团内测 AI 版支付宝，超级 App AI 入口竞争升级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800"/>
              </a:spcBef>
              <a:defRPr sz="8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6 月 14 日</a:t>
            </a:r>
            <a:endParaRPr>
              <a:latin typeface="PingFang SC" panose="020B0400000000000000" charset="-122"/>
            </a:endParaRPr>
          </a:p>
          <a:p>
            <a:pPr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`超级App` `AI入口`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20000" y="3996000"/>
            <a:ext cx="2556000" cy="2015999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Ins="108000" rtlCol="0" anchor="ctr"/>
          <a:lstStyle/>
          <a:p>
            <a:pPr algn="ctr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07</a:t>
            </a:r>
            <a:endParaRPr>
              <a:latin typeface="Times New Roman" panose="02020503050405090304"/>
            </a:endParaRP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美国扩大涉军企业名单，阿里、百度、宇树等中国科技企业被列入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800"/>
              </a:spcBef>
              <a:defRPr sz="8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6 月 9 日</a:t>
            </a:r>
            <a:endParaRPr>
              <a:latin typeface="PingFang SC" panose="020B0400000000000000" charset="-122"/>
            </a:endParaRPr>
          </a:p>
          <a:p>
            <a:pPr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`地缘科技` `供应链`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820000" y="3996000"/>
            <a:ext cx="2556000" cy="2015999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Ins="108000" rtlCol="0" anchor="ctr"/>
          <a:lstStyle/>
          <a:p>
            <a:pPr algn="ctr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08</a:t>
            </a:r>
            <a:endParaRPr>
              <a:latin typeface="Times New Roman" panose="02020503050405090304"/>
            </a:endParaRP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AI 陪伴监管进入生效前一个月倒计时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800"/>
              </a:spcBef>
              <a:defRPr sz="8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6 月 15 日</a:t>
            </a:r>
            <a:endParaRPr>
              <a:latin typeface="PingFang SC" panose="020B0400000000000000" charset="-122"/>
            </a:endParaRPr>
          </a:p>
          <a:p>
            <a:pPr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`AI陪伴` `数据治理`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0000" y="622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数据来源：公开报道整理  ·  AI周报团队出品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2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本周速览 · 全球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0000" y="1007999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WEEKLY OVERVIEW  ·  8 条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0000" y="1548000"/>
            <a:ext cx="2484000" cy="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0000" y="1800000"/>
            <a:ext cx="2556000" cy="2015999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Ins="108000" rtlCol="0" anchor="ctr"/>
          <a:lstStyle/>
          <a:p>
            <a:pPr algn="ctr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01</a:t>
            </a:r>
            <a:endParaRPr>
              <a:latin typeface="Times New Roman" panose="02020503050405090304"/>
            </a:endParaRP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Anthropic 发布 Claude Fable 5 与 Mythos 5…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800"/>
              </a:spcBef>
              <a:defRPr sz="8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6 月 9 日、12 日</a:t>
            </a:r>
            <a:endParaRPr>
              <a:latin typeface="PingFang SC" panose="020B0400000000000000" charset="-122"/>
            </a:endParaRPr>
          </a:p>
          <a:p>
            <a:pPr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`模型治理` `出口管制`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20000" y="1800000"/>
            <a:ext cx="2556000" cy="2015999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Ins="108000" rtlCol="0" anchor="ctr"/>
          <a:lstStyle/>
          <a:p>
            <a:pPr algn="ctr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02</a:t>
            </a:r>
            <a:endParaRPr>
              <a:latin typeface="Times New Roman" panose="02020503050405090304"/>
            </a:endParaRP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Google DeepMind 发布 DiffusionGemma，尝试用扩…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800"/>
              </a:spcBef>
              <a:defRPr sz="8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6 月 10 日</a:t>
            </a:r>
            <a:endParaRPr>
              <a:latin typeface="PingFang SC" panose="020B0400000000000000" charset="-122"/>
            </a:endParaRPr>
          </a:p>
          <a:p>
            <a:pPr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`开源模型` `本地AI`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20000" y="1800000"/>
            <a:ext cx="2556000" cy="2015999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Ins="108000" rtlCol="0" anchor="ctr"/>
          <a:lstStyle/>
          <a:p>
            <a:pPr algn="ctr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03</a:t>
            </a:r>
            <a:endParaRPr>
              <a:latin typeface="Times New Roman" panose="02020503050405090304"/>
            </a:endParaRP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OpenAI 宣布收购 Ona，为 Codex 引入持久化、安全云端执行环境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800"/>
              </a:spcBef>
              <a:defRPr sz="8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6 月 11 日</a:t>
            </a:r>
            <a:endParaRPr>
              <a:latin typeface="PingFang SC" panose="020B0400000000000000" charset="-122"/>
            </a:endParaRPr>
          </a:p>
          <a:p>
            <a:pPr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`长时Agent` `云沙箱`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820000" y="1800000"/>
            <a:ext cx="2556000" cy="2015999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Ins="108000" rtlCol="0" anchor="ctr"/>
          <a:lstStyle/>
          <a:p>
            <a:pPr algn="ctr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04</a:t>
            </a:r>
            <a:endParaRPr>
              <a:latin typeface="Times New Roman" panose="02020503050405090304"/>
            </a:endParaRP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NVIDIA 披露首轮 AgentPerf 结果，Agent 工作负载开始拥…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800"/>
              </a:spcBef>
              <a:defRPr sz="8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6 月 12 日</a:t>
            </a:r>
            <a:endParaRPr>
              <a:latin typeface="PingFang SC" panose="020B0400000000000000" charset="-122"/>
            </a:endParaRPr>
          </a:p>
          <a:p>
            <a:pPr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`Agent基准` `算力效率`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0000" y="3996000"/>
            <a:ext cx="2556000" cy="2015999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Ins="108000" rtlCol="0" anchor="ctr"/>
          <a:lstStyle/>
          <a:p>
            <a:pPr algn="ctr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05</a:t>
            </a:r>
            <a:endParaRPr>
              <a:latin typeface="Times New Roman" panose="02020503050405090304"/>
            </a:endParaRP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OpenAI 推出全球合作伙伴网络，计划投入 1.5 亿美元并认证 30 万…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800"/>
              </a:spcBef>
              <a:defRPr sz="8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6 月 14 日</a:t>
            </a:r>
            <a:endParaRPr>
              <a:latin typeface="PingFang SC" panose="020B0400000000000000" charset="-122"/>
            </a:endParaRPr>
          </a:p>
          <a:p>
            <a:pPr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`企业落地` `渠道生态`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20000" y="3996000"/>
            <a:ext cx="2556000" cy="2015999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Ins="108000" rtlCol="0" anchor="ctr"/>
          <a:lstStyle/>
          <a:p>
            <a:pPr algn="ctr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06</a:t>
            </a:r>
            <a:endParaRPr>
              <a:latin typeface="Times New Roman" panose="02020503050405090304"/>
            </a:endParaRP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OpenAI 与 Oracle 打通既有云采购额度，降低企业采用 Codex…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800"/>
              </a:spcBef>
              <a:defRPr sz="8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6 月 10 日</a:t>
            </a:r>
            <a:endParaRPr>
              <a:latin typeface="PingFang SC" panose="020B0400000000000000" charset="-122"/>
            </a:endParaRPr>
          </a:p>
          <a:p>
            <a:pPr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`企业AI` `云生态`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20000" y="3996000"/>
            <a:ext cx="2556000" cy="2015999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Ins="108000" rtlCol="0" anchor="ctr"/>
          <a:lstStyle/>
          <a:p>
            <a:pPr algn="ctr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07</a:t>
            </a:r>
            <a:endParaRPr>
              <a:latin typeface="Times New Roman" panose="02020503050405090304"/>
            </a:endParaRP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Anthropic 与 TCS 合作进入金融、医疗、公共部门等强监管行业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800"/>
              </a:spcBef>
              <a:defRPr sz="8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6 月 12 日</a:t>
            </a:r>
            <a:endParaRPr>
              <a:latin typeface="PingFang SC" panose="020B0400000000000000" charset="-122"/>
            </a:endParaRPr>
          </a:p>
          <a:p>
            <a:pPr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`行业Agent` `合规`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820000" y="3996000"/>
            <a:ext cx="2556000" cy="2015999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Ins="108000" rtlCol="0" anchor="ctr"/>
          <a:lstStyle/>
          <a:p>
            <a:pPr algn="ctr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08</a:t>
            </a:r>
            <a:endParaRPr>
              <a:latin typeface="Times New Roman" panose="02020503050405090304"/>
            </a:endParaRP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新研究将 Agent 记忆定义为隐私、效用与可删除性的共同优化问题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800"/>
              </a:spcBef>
              <a:defRPr sz="8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6 月 9 日（北京时间）</a:t>
            </a:r>
            <a:endParaRPr>
              <a:latin typeface="PingFang SC" panose="020B0400000000000000" charset="-122"/>
            </a:endParaRPr>
          </a:p>
          <a:p>
            <a:pPr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`长期记忆` `隐私` `遗忘`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0000" y="622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数据来源：公开报道整理  ·  AI周报团队出品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3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1800000"/>
            <a:ext cx="2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01</a:t>
            </a:r>
            <a:endParaRPr>
              <a:latin typeface="Times New Roman" panose="020205030504050903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00000" y="3240000"/>
            <a:ext cx="1080000" cy="28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3528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一、国内 AI 热点</a:t>
            </a:r>
            <a:endParaRPr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9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01</a:t>
            </a:r>
            <a:endParaRPr>
              <a:latin typeface="Times New Roman" panose="0202050305040509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55999" y="540000"/>
            <a:ext cx="1152000" cy="3600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超级入口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000" y="1080000"/>
            <a:ext cx="106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微信开放 Agent 接入，支付宝被曝内测 AI 版本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0000" y="1835999"/>
            <a:ext cx="10692000" cy="648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108000" rtlCol="0" anchor="ctr"/>
          <a:lstStyle/>
          <a:p>
            <a:pPr algn="ctr">
              <a:defRPr sz="11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💡  微信把小程序生态变成 AI 的"手脚"，支付宝从支付工具重构为 AI 原生入口——两大超级 App 的 AI 竞争从"能力建设"进入"产品形态对抗"。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微信策略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Agent → 小程序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数百万小程序成为可调用工具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支付宝策略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AI 原生重构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AI 助手"阿宝"替代功能列表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核心变量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谁能调度最多服务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身份+支付+小程序/服务闭环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0000" y="40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解读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0000" y="4553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4463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微信：自动模式读取源码自动解析；开发模式自定义调用逻辑，通过平台审核后接入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" y="4985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000" y="4895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支付宝：此前已推出"AI付"和"AI收"，为智能体提供完整支付闭环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0000" y="5417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5327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真正关键的是 Agent 调用协议是否统一开放、商家如何获得推荐、用户授权和交易责任怎样划分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0000" y="6228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发布时间：2026-06-15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5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9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02</a:t>
            </a:r>
            <a:endParaRPr>
              <a:latin typeface="Times New Roman" panose="0202050305040509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55999" y="540000"/>
            <a:ext cx="1152000" cy="3600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调用量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000" y="1080000"/>
            <a:ext cx="106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中国大模型周调用量连续 6 周全球第一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0000" y="1835999"/>
            <a:ext cx="10692000" cy="648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108000" rtlCol="0" anchor="ctr"/>
          <a:lstStyle/>
          <a:p>
            <a:pPr algn="ctr">
              <a:defRPr sz="11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💡  国产大模型在"实际使用量"上形成局部领先，而不仅是参数和榜单竞争——DeepSeek-V4-Flash 连续 3 周全球第一。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周调用量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14.19 万亿 Token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环比 +27.49%，连续 6 周超美国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全球 Top5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国产占 4 席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DeepSeek / 腾讯 Hy3 / MiniMax M3 / 小米 MiMo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Kimi K2.7 Code</a:t>
            </a:r>
            <a:endParaRPr>
              <a:latin typeface="Times New Roman" panose="02020503050405090304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开源 + 降本 30%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编程模型赛道白热化，高速版速度 5-6 倍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0000" y="40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解读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0000" y="4553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4463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Kimi K2.7 Code 在长上下文编程场景 Token 消耗减少约 30%，Agent 执行能力 +10%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" y="4985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000" y="4895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国产大模型借世界杯"场景化获客"：Kimi 调度 300 个子 Agent 预测 104 场赛事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0000" y="5417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5327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模型竞争的下一个指标不再是榜单分数，而是"谁的模型在被实际调用、能否赚钱"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6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9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03</a:t>
            </a:r>
            <a:endParaRPr>
              <a:latin typeface="Times New Roman" panose="0202050305040509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55999" y="540000"/>
            <a:ext cx="1152000" cy="3600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政策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000" y="1080000"/>
            <a:ext cx="106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工信部印发"AI+信息通信"实施意见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0000" y="1835999"/>
            <a:ext cx="10692000" cy="648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108000" rtlCol="0" anchor="ctr"/>
          <a:lstStyle/>
          <a:p>
            <a:pPr algn="ctr">
              <a:defRPr sz="11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💡  政策从"鼓励 AI 发展"进入"用基础设施强行托举 AI"阶段，算力网络、边缘推理、光通信芯片等被点名攻坚。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1ms 算力圈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覆盖率 ≥75%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城域算力时延目标（2028 年）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高价值场景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30+ 典型场景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AI 手机/电脑/穿戴等终端方向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三级算力体系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枢纽-区域-边缘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增强边缘推理能力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0000" y="40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解读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0000" y="4553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4463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此文件比此前外媒传闻的"2 万亿元数据中心网络"更具参考价值，后者仅为产业传闻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" y="4985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000" y="4895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未来算力竞争从"单卡性能"延伸到集群效率和全国资源编排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0000" y="5417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5327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国产 AI 芯片、服务器、液冷和算力调度软件可能共同受益，但先进制程仍是约束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7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9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04</a:t>
            </a:r>
            <a:endParaRPr>
              <a:latin typeface="Times New Roman" panose="0202050305040509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55999" y="540000"/>
            <a:ext cx="1152000" cy="3600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世界模型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000" y="1080000"/>
            <a:ext cx="106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智源大会发布"悟界"世界模型系列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0000" y="1835999"/>
            <a:ext cx="10692000" cy="648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108000" rtlCol="0" anchor="ctr"/>
          <a:lstStyle/>
          <a:p>
            <a:pPr algn="ctr">
              <a:defRPr sz="11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💡  国内前沿研究重心明显从"大语言模型"向"世界模型 + 具身智能 + AI for Science"迁移，智源从"悟道"到"悟界"是标志性事件。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悟界·Physis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通用世界基座模型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"预测下一物理状态"为核心范式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悟界·Brainμ1.0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神经科学大模型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理解与生成统一，登刊 Science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FlagOS 2.1</a:t>
            </a:r>
            <a:endParaRPr>
              <a:latin typeface="Times New Roman" panose="02020503050405090304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适配 32 款芯片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跨 18 家厂商，国产算力碎片化应对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0000" y="40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解读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0000" y="4553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4463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世界模型核心逻辑是"预测下一个物理状态"而非"预测下一个 Token"——AI 从数字世界走向物理世界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" y="4985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000" y="4895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悟界·RoboBrain Orca 以物理状态预测为核心，提升具身智能少样本与跨场景泛化能力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0000" y="5417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5327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FlagOS 适配 32 款芯片折射国产算力碎片化现实——软件栈跨芯片兼容性成为刚需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8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9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05</a:t>
            </a:r>
            <a:endParaRPr>
              <a:latin typeface="Times New Roman" panose="0202050305040509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55999" y="540000"/>
            <a:ext cx="1152000" cy="3600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具身智能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000" y="1080000"/>
            <a:ext cx="106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具身智能产业化加速：从演示走向量产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0000" y="1835999"/>
            <a:ext cx="10692000" cy="648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108000" rtlCol="0" anchor="ctr"/>
          <a:lstStyle/>
          <a:p>
            <a:pPr algn="ctr">
              <a:defRPr sz="11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💡  具身智能正从实验室"炫技"进入"作业模式"——踢球、叠衣、快递分拣、骨科手术覆盖家居、工业、康养多领域。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上海展会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6/11-13 全链路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零部件→大模型→整机→解决方案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天工 3.0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下半年规模化量产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北京人形机器人创新中心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重庆汽车展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"具身智能上车"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汽车重新定义为轮式机器人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0000" y="40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解读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0000" y="4553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4463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"天工 3.0"宣称下半年规模化量产——如兑现，将是国内人形机器人从演示到商业化的分水岭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" y="4985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000" y="4895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具身智能和汽车产业边界消融——大模型上车从"锦上添花"走向"核心中枢"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0000" y="5417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5327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真正需要关注的是量产成本、故障率、安全标准和实际部署规模——区分"能跑"和"能卖"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9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9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06</a:t>
            </a:r>
            <a:endParaRPr>
              <a:latin typeface="Times New Roman" panose="0202050305040509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55999" y="540000"/>
            <a:ext cx="1152000" cy="3600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数据制度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000" y="1080000"/>
            <a:ext cx="106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数据要素与 AI 评测被纳入制度化管理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0000" y="1835999"/>
            <a:ext cx="10692000" cy="648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108000" rtlCol="0" anchor="ctr"/>
          <a:lstStyle/>
          <a:p>
            <a:pPr algn="ctr">
              <a:defRPr sz="11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💡  高质量数据集和 Token 经济被正式推到前台，AI 行业从野蛮生长进入规则建设期。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高质量数据集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六大专项行动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文本/图像/音视频多模态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Token 交易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新型交易模式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构建以词元为基础的数据价值体系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网络测评规范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"只评不测"受限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须标"仅为个人体验/主观感受"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0000" y="40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解读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0000" y="4553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4463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国家数据局首次系统部署多模态高质量数据集建设，聚焦智能体、具身智能、世界模型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" y="4985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000" y="4895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探索"词元（Token）交易"——数据可能成为可定价、可交易、可审计的生产要素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0000" y="5417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5327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AI 评测类内容"商测一体"的乱象将受约束，大模型"软文式评测"传播空间收窄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10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9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07</a:t>
            </a:r>
            <a:endParaRPr>
              <a:latin typeface="Times New Roman" panose="0202050305040509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55999" y="540000"/>
            <a:ext cx="1152000" cy="3600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地缘科技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000" y="1080000"/>
            <a:ext cx="106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国内 AI 与机器人企业面临新地缘科技风险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0000" y="1835999"/>
            <a:ext cx="10692000" cy="648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108000" rtlCol="0" anchor="ctr"/>
          <a:lstStyle/>
          <a:p>
            <a:pPr algn="ctr">
              <a:defRPr sz="11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💡  美国国防部将阿里、百度、宇树等列入涉军企业名单，外部限制已从芯片制造扩大到基础模型、自动驾驶和具身智能。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新增企业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阿里/百度/宇树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比亚迪/长鑫/速腾聚创等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限制性质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非全面制裁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但影响投资者与供应商判断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产业影响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供应链审查加速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法律禁令尚未全面生效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0000" y="40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解读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0000" y="4553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4463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中国 AI 企业出海不能只做产品本地化，还需同步建设数据合规、出口管制、实体名单筛查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" y="4985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000" y="4895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海外业务隔离、法律申诉和替代供应链能力的重要性上升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0000" y="5417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5327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AI 企业的技术路线、股权结构和客户构成都可能受到更严格审查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11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9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08</a:t>
            </a:r>
            <a:endParaRPr>
              <a:latin typeface="Times New Roman" panose="0202050305040509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55999" y="540000"/>
            <a:ext cx="1152000" cy="3600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AI 治理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000" y="1080000"/>
            <a:ext cx="106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AI 陪伴产品进入监管落地倒计时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0000" y="1835999"/>
            <a:ext cx="10692000" cy="648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108000" rtlCol="0" anchor="ctr"/>
          <a:lstStyle/>
          <a:p>
            <a:pPr algn="ctr">
              <a:defRPr sz="11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💡  《人工智能拟人化互动服务管理暂行办法》7 月 15 日施行，距生效正好一个月。通过制造依赖提高留存的设计将面临高合规风险。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核心禁令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禁止诱导沉迷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不得向未成年人提供虚拟伴侣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时长控制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连续使用 &gt;2h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应提醒用户注意使用时长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数据保护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敏感数据单独同意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聊天记录可复制、删除、退出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0000" y="40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解读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0000" y="4553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4463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竞争维度从角色数量和互动黏性转向年龄识别、极端情绪干预、数据删除和使用时长控制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" y="4985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000" y="4895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禁止诱导用户形成情感依赖或沉迷；敏感交互数据不得在未取得单独同意时用于模型训练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0000" y="5417999"/>
            <a:ext cx="72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5327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达到用户规模等条件时需开展安全评估——合规成本将成为新的行业壁垒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12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1800000"/>
            <a:ext cx="2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77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02</a:t>
            </a:r>
            <a:endParaRPr>
              <a:latin typeface="Times New Roman" panose="020205030504050903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00000" y="3240000"/>
            <a:ext cx="1080000" cy="288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3528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二、全球 AI 与 RAG 前沿</a:t>
            </a:r>
            <a:endParaRPr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9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7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01</a:t>
            </a:r>
            <a:endParaRPr>
              <a:latin typeface="Times New Roman" panose="0202050305040509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55999" y="540000"/>
            <a:ext cx="1152000" cy="36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模型治理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000" y="1080000"/>
            <a:ext cx="106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Anthropic 新模型发布后迅速被暂停访问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0000" y="1835999"/>
            <a:ext cx="10692000" cy="648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108000" rtlCol="0" anchor="ctr"/>
          <a:lstStyle/>
          <a:p>
            <a:pPr algn="ctr">
              <a:defRPr sz="11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💡  前沿模型第一次如此直接地暴露出"能力发布—安全事件—行政限制—全球服务中断"的短周期风险。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发布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Claude Fable 5 / Mythos 5</a:t>
            </a:r>
            <a:endParaRPr>
              <a:latin typeface="Times New Roman" panose="02020503050405090304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6 月 9 日发布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暂停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美国政府以国家安全为由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6 月 12 日暂停外国访问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影响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全球服务中断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多模型路由成为业务连续性要求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0000" y="40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解读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0000" y="4553999"/>
            <a:ext cx="72000" cy="72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4463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企业选型不能只比较模型能力，还要评估供应连续性、地域限制和替代模型切换能力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" y="4985999"/>
            <a:ext cx="72000" cy="72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000" y="4895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多模型路由、模型抽象层和降级预案从工程优化变成业务连续性要求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0000" y="5417999"/>
            <a:ext cx="72000" cy="72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5327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未来企业 AI 合同可能出现新条款：模型可用区域、政策中断责任、数据迁移方案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13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9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7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02</a:t>
            </a:r>
            <a:endParaRPr>
              <a:latin typeface="Times New Roman" panose="0202050305040509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55999" y="540000"/>
            <a:ext cx="1152000" cy="36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开源模型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000" y="1080000"/>
            <a:ext cx="106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DiffusionGemma 探索"并行生成文本"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0000" y="1835999"/>
            <a:ext cx="10692000" cy="648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108000" rtlCol="0" anchor="ctr"/>
          <a:lstStyle/>
          <a:p>
            <a:pPr algn="ctr">
              <a:defRPr sz="11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💡  扩散式文本生成若能稳定提升低并发场景速度，可能显著降低本地 Agent 和 Agentic RAG 的循环延迟。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架构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Gemma 4 MoE 260 亿参数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每步激活约 38 亿参数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并行度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每步 256 Token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Apache 2.0 许可证开放权重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速度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自回归模型约 4 倍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单用户、本地硬件场景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0000" y="40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解读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0000" y="4553999"/>
            <a:ext cx="72000" cy="72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4463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Agent 会连续调用模型、工具、检索器和代码执行环境，单次生成延迟会被循环次数放大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" y="4985999"/>
            <a:ext cx="72000" cy="72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000" y="4895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仍需观察：复杂推理和工具调用上的稳定性；独立测试和长上下文场景的复现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0000" y="5417999"/>
            <a:ext cx="72000" cy="72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5327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并行生成可能更好支持"局部修订"而非整段重写——这对 Agent 迭代式工作流很关键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14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9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7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03</a:t>
            </a:r>
            <a:endParaRPr>
              <a:latin typeface="Times New Roman" panose="0202050305040509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55999" y="540000"/>
            <a:ext cx="1152000" cy="36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长时 Agent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000" y="1080000"/>
            <a:ext cx="106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OpenAI 收购 Ona，补齐长时 Agent 的"工作场所"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0000" y="1835999"/>
            <a:ext cx="10692000" cy="648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108000" rtlCol="0" anchor="ctr"/>
          <a:lstStyle/>
          <a:p>
            <a:pPr algn="ctr">
              <a:defRPr sz="11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💡  "记忆"不只是向量数据库里的聊天记录——Agent 的真正长期状态还包括文件系统、运行进程、任务队列和工具权限。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Codex 用户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周活 500 万+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较年初增长 400%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Ona 能力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安全云执行环境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持久化、可复现、可持续运行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方向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单次生成 → 数天任务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关闭笔记本后仍能继续运行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0000" y="40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解读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0000" y="4553999"/>
            <a:ext cx="72000" cy="72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4463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Agent 的真正长期状态：文件系统、运行进程、任务队列、工具权限、环境变量、执行日志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" y="4985999"/>
            <a:ext cx="72000" cy="72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000" y="4895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未来的 Agent 平台会同时竞争"认知记忆"和"工作环境记忆"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0000" y="5417999"/>
            <a:ext cx="72000" cy="72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5327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对凭证、网络、文件和命令进行最小权限控制，留下完整审计日志并支持人工审批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15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9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7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04</a:t>
            </a:r>
            <a:endParaRPr>
              <a:latin typeface="Times New Roman" panose="0202050305040509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55999" y="540000"/>
            <a:ext cx="1152000" cy="36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Agent 基准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000" y="1080000"/>
            <a:ext cx="106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Agent 基础设施开始拥有专用基准 AgentPerf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0000" y="1835999"/>
            <a:ext cx="10692000" cy="648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108000" rtlCol="0" anchor="ctr"/>
          <a:lstStyle/>
          <a:p>
            <a:pPr algn="ctr">
              <a:defRPr sz="11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💡  AI 成本核算单位将从"百万 Token"逐步转向"每个成功任务""每个并发 Agent"和"每个可验证结果"。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GB300 NVL72</a:t>
            </a:r>
            <a:endParaRPr>
              <a:latin typeface="Times New Roman" panose="02020503050405090304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每兆瓦 Agent 数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最高达 H200 系统的 20 倍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评测维度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真实编码 Agent 轨迹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读写文件、运行命令、检索、多轮调用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与传统区别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关注完整任务成本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含失败重试、工具等待、记忆检索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0000" y="40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解读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0000" y="4553999"/>
            <a:ext cx="72000" cy="72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4463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Agent 工作负载关注：完成真实任务需多少次调用、工具等待是否浪费 GPU、上下文增长后的延迟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" y="4985999"/>
            <a:ext cx="72000" cy="72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000" y="4895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每美元、每瓦能完成多少个完整任务；并发 Agent 是否仍满足响应时间目标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0000" y="5417999"/>
            <a:ext cx="72000" cy="72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5327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NVIDIA 官方口径数据，仍应等待更多独立平台和模型的结果验证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16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9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7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05</a:t>
            </a:r>
            <a:endParaRPr>
              <a:latin typeface="Times New Roman" panose="0202050305040509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55999" y="540000"/>
            <a:ext cx="1152000" cy="36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企业生态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000" y="1080000"/>
            <a:ext cx="106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OpenAI 加速建设企业渠道生态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0000" y="1835999"/>
            <a:ext cx="10692000" cy="648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108000" rtlCol="0" anchor="ctr"/>
          <a:lstStyle/>
          <a:p>
            <a:pPr algn="ctr">
              <a:defRPr sz="11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💡  下一阶段最大的商业机会未必是再做一个通用聊天入口，而是成为某个行业的 Agent 集成商、评测服务商或流程改造伙伴。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Partner Network</a:t>
            </a:r>
            <a:endParaRPr>
              <a:latin typeface="Times New Roman" panose="02020503050405090304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1.5 亿美元投入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30 万名认证顾问（2026 年底）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Oracle 合作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Universal Credits</a:t>
            </a:r>
            <a:endParaRPr>
              <a:latin typeface="Times New Roman" panose="02020503050405090304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用既有云采购额度买模型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合作方向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系统集成/咨询/安全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数据基础设施/Codex/Agent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0000" y="40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解读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0000" y="4553999"/>
            <a:ext cx="72000" cy="72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4463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企业采用 AI 的瓶颈从"有没有模型"变成能否接入内部数据和权限体系、通过既有采购和安全流程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" y="4985999"/>
            <a:ext cx="72000" cy="72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000" y="4895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能否推动组织改变，而不是停留在演示项目——这才是真正的落地考验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17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9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7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06</a:t>
            </a:r>
            <a:endParaRPr>
              <a:latin typeface="Times New Roman" panose="0202050305040509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55999" y="540000"/>
            <a:ext cx="1152000" cy="36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行业 Agent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000" y="1080000"/>
            <a:ext cx="106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强监管行业成为 Agent 商业化重点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0000" y="1835999"/>
            <a:ext cx="10692000" cy="648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108000" rtlCol="0" anchor="ctr"/>
          <a:lstStyle/>
          <a:p>
            <a:pPr algn="ctr">
              <a:defRPr sz="11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💡  通用 Agent 价值难以量化，而强监管行业有大量高成本、规则明确、需要审计的知识流程。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Anthropic × TCS</a:t>
            </a:r>
            <a:endParaRPr>
              <a:latin typeface="Times New Roman" panose="02020503050405090304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56 国 5 万名员工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金融/医疗/公共部门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核心场景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合规审查/文献整理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金融研究/政策文书处理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技术方案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RAG + Agent + 人工复核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检索证据可追溯、输出可审计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0000" y="40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解读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0000" y="4553999"/>
            <a:ext cx="72000" cy="72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4463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合规审查、医疗文献整理、金融研究等场景非常适合"RAG + Agent + 人工复核"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" y="4985999"/>
            <a:ext cx="72000" cy="72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000" y="4895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前提是检索证据可追溯、权限严格、输出可审计——这对 RAG 质量提出了更高要求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18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9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7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07</a:t>
            </a:r>
            <a:endParaRPr>
              <a:latin typeface="Times New Roman" panose="0202050305040509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55999" y="540000"/>
            <a:ext cx="1152000" cy="36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隐私计算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000" y="1080000"/>
            <a:ext cx="106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隐私计算成为个人化 AI 的基础设施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0000" y="1835999"/>
            <a:ext cx="10692000" cy="648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108000" rtlCol="0" anchor="ctr"/>
          <a:lstStyle/>
          <a:p>
            <a:pPr algn="ctr">
              <a:defRPr sz="11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💡  个性化 Agent 和长期记忆需要保护数据在计算中的状态，并通过远程证明确认运行环境未被篡改。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NVIDIA Blackwell</a:t>
            </a:r>
            <a:endParaRPr>
              <a:latin typeface="Times New Roman" panose="02020503050405090304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Confidential Computing</a:t>
            </a:r>
            <a:endParaRPr>
              <a:latin typeface="Times New Roman" panose="02020503050405090304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扩展 Apple Private Cloud Compute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Apple Intelligence</a:t>
            </a:r>
            <a:endParaRPr>
              <a:latin typeface="Times New Roman" panose="02020503050405090304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Google Cloud 推理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服务端隐私保护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趋势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可信执行环境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+ 最小权限 + 可验证删除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0000" y="40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解读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0000" y="4553999"/>
            <a:ext cx="72000" cy="72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4463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只强调"数据加密存储"不够——还需要保护数据在计算中的状态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" y="4985999"/>
            <a:ext cx="72000" cy="72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000" y="4895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随着 Agent 记忆越来越个人化，隐私计算将成为记忆系统的标准组件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19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1800000"/>
            <a:ext cx="2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7C3AED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03</a:t>
            </a:r>
            <a:endParaRPr>
              <a:latin typeface="Times New Roman" panose="020205030504050903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00000" y="3240000"/>
            <a:ext cx="1080000" cy="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3528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RAG 与 Agentic RAG 专题</a:t>
            </a:r>
            <a:endParaRPr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9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01</a:t>
            </a:r>
            <a:endParaRPr>
              <a:latin typeface="Times New Roman" panose="0202050305040509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55999" y="540000"/>
            <a:ext cx="1152000" cy="360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RAG 进化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000" y="1080000"/>
            <a:ext cx="106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RAG 正从"找答案"升级为"获得技能"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0000" y="1835999"/>
            <a:ext cx="10692000" cy="648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108000" rtlCol="0" anchor="ctr"/>
          <a:lstStyle/>
          <a:p>
            <a:pPr algn="ctr">
              <a:defRPr sz="11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💡  企业知识库不应只有"文档块"——陈述性、程序性、情景、语义和工作记忆需要不同载体。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Anything2Skill</a:t>
            </a:r>
            <a:endParaRPr>
              <a:latin typeface="Times New Roman" panose="02020503050405090304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知识 → 可复用技能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持久化 SkillBank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技能包含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触发条件/操作步骤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输出格式/证据/版本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测试结果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"技能库+RAG"优于纯 RAG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预印本，仍需独立复现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0000" y="40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解读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0000" y="4553999"/>
            <a:ext cx="72000" cy="7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4463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传统 RAG 让 Agent 在每次任务中重新推导操作步骤——SkillBank 把知识编译为可执行能力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" y="4985999"/>
            <a:ext cx="72000" cy="7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000" y="4895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陈述性知识→文档RAG、程序性知识→Skill/Workflow、工作记忆→状态机/任务存储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0000" y="5417999"/>
            <a:ext cx="72000" cy="7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5327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这也是 Anything2Skill 的方向：把知识从"可搜索文本"升级为"可执行能力"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20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9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02</a:t>
            </a:r>
            <a:endParaRPr>
              <a:latin typeface="Times New Roman" panose="0202050305040509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55999" y="540000"/>
            <a:ext cx="1152000" cy="360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检索规划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000" y="1080000"/>
            <a:ext cx="106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Agentic RAG 不应把控制权全部交给向量相似度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0000" y="1835999"/>
            <a:ext cx="10692000" cy="648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108000" rtlCol="0" anchor="ctr"/>
          <a:lstStyle/>
          <a:p>
            <a:pPr algn="ctr">
              <a:defRPr sz="11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💡  向量检索适合语义近似，但不擅长时间、数值、版本、权限和否定条件——Agent 应先判断"需要什么证据"，再决定检索方式。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核心主张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LLM 生成结构化检索意图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轻量检索后端精确执行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向量局限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不擅长：时间/数值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版本/权限/否定条件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结构化查询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时间+实体+文档类型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状态+权限 组合表达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0000" y="40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解读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0000" y="4553999"/>
            <a:ext cx="72000" cy="7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4463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高质量 Agentic RAG 的核心是检索规划，不只是更大的向量数据库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" y="4985999"/>
            <a:ext cx="72000" cy="7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000" y="4895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结构化查询可表达"时间范围 + 实体 + 文档类型 + 状态 + 权限"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0000" y="5417999"/>
            <a:ext cx="72000" cy="7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5327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与其不断堆叠复杂的向量、混合和图检索系统，不如让 LLM 先生成逻辑检索意图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21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9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03</a:t>
            </a:r>
            <a:endParaRPr>
              <a:latin typeface="Times New Roman" panose="0202050305040509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55999" y="540000"/>
            <a:ext cx="1152000" cy="360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记忆架构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000" y="1080000"/>
            <a:ext cx="106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Agent 记忆需要"去重后再聚合"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0000" y="1835999"/>
            <a:ext cx="10692000" cy="648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108000" rtlCol="0" anchor="ctr"/>
          <a:lstStyle/>
          <a:p>
            <a:pPr algn="ctr">
              <a:defRPr sz="11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💡  聊天记录不要直接切块后全部塞入向量库——应保留原始事件，同时建立主题、实体、时间和因果层级。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xMemory</a:t>
            </a:r>
            <a:endParaRPr>
              <a:latin typeface="Times New Roman" panose="02020503050405090304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记忆解耦为语义组件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层级组织，先粗后细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问题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对话记忆高度重复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固定 Top-K 取回重复片段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方案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先检索主题和语义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降低不确定性时才展开到事件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0000" y="40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解读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0000" y="4553999"/>
            <a:ext cx="72000" cy="7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4463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普通 RAG 假设知识库内容多样——对话记忆却高度相关、重复且具有时间依赖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" y="4985999"/>
            <a:ext cx="72000" cy="7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000" y="4895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检索时先粗后细：先检索主题和语义，只有在能降低不确定性时才展开到原始消息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0000" y="5417999"/>
            <a:ext cx="72000" cy="7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5327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建立主题、实体、时间和因果层级是记忆系统的关键架构决策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22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9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04</a:t>
            </a:r>
            <a:endParaRPr>
              <a:latin typeface="Times New Roman" panose="0202050305040509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55999" y="540000"/>
            <a:ext cx="1152000" cy="360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图记忆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000" y="1080000"/>
            <a:ext cx="106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图记忆正在从静态知识图谱变成自我演化系统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0000" y="1835999"/>
            <a:ext cx="10692000" cy="648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108000" rtlCol="0" anchor="ctr"/>
          <a:lstStyle/>
          <a:p>
            <a:pPr algn="ctr">
              <a:defRPr sz="11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💡  SAGE 的价值不只是找到相似节点，而是从局部线索恢复完整证据链，并利用任务反馈改善记忆结构。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Memory Writer</a:t>
            </a:r>
            <a:endParaRPr>
              <a:latin typeface="Times New Roman" panose="02020503050405090304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从交互历史构建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持续修正图结构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Memory Reader</a:t>
            </a:r>
            <a:endParaRPr>
              <a:latin typeface="Times New Roman" panose="02020503050405090304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检索证据链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反馈给 Writer 改进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20000" y="2664000"/>
            <a:ext cx="3384000" cy="108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ctr">
              <a:defRPr sz="90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应用方向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多跳/复杂关系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200"/>
              </a:spcBef>
              <a:defRPr sz="80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需要解释性/持续变化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0000" y="40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解读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0000" y="4553999"/>
            <a:ext cx="72000" cy="7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4463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SAGE 将图记忆拆分为 Writer 和 Reader 两个角色——读写分离，持续进化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" y="4985999"/>
            <a:ext cx="72000" cy="7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000" y="4895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适用于人物/项目/决策之间关系复杂、需要解释"为什么得出这个结论"的场景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0000" y="5417999"/>
            <a:ext cx="72000" cy="7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5327999"/>
            <a:ext cx="100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记忆内容持续变化且需要版本管理——这比静态知识图谱更接近真实世界需求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23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1800000"/>
            <a:ext cx="2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10B981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04</a:t>
            </a:r>
            <a:endParaRPr>
              <a:latin typeface="Times New Roman" panose="020205030504050903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00000" y="3240000"/>
            <a:ext cx="1080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3528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三、未来 AI 趋势判断</a:t>
            </a:r>
            <a:endParaRPr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未来 AI 趋势判断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0000" y="1007999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FUTURE TRENDS  ·  6 大趋势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0000" y="1440000"/>
            <a:ext cx="2484000" cy="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0000" y="1800000"/>
            <a:ext cx="3384000" cy="414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44000" rIns="108000" rtlCol="0" anchor="ctr"/>
          <a:lstStyle/>
          <a:p>
            <a:pPr algn="ctr">
              <a:defRPr sz="2400" b="1">
                <a:solidFill>
                  <a:srgbClr val="10B981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01</a:t>
            </a:r>
            <a:endParaRPr>
              <a:latin typeface="Times New Roman" panose="02020503050405090304"/>
            </a:endParaRP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Agent 护城河迁移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600"/>
              </a:spcBef>
              <a:defRPr sz="600">
                <a:solidFill>
                  <a:srgbClr val="10B981"/>
                </a:solidFill>
              </a:defRPr>
            </a:pPr>
            <a:r>
              <a:rPr>
                <a:latin typeface="Times New Roman" panose="02020503050405090304"/>
              </a:rPr>
              <a:t>────────────────────</a:t>
            </a:r>
            <a:endParaRPr>
              <a:latin typeface="Times New Roman" panose="02020503050405090304"/>
            </a:endParaRPr>
          </a:p>
          <a:p>
            <a:pPr>
              <a:spcBef>
                <a:spcPts val="800"/>
              </a:spcBef>
              <a:defRPr sz="9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基础模型差距缩小，真正难复制的是高质量私有数据、可验证长期记忆、与业务系统的深度连接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20000" y="1800000"/>
            <a:ext cx="3384000" cy="414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44000" rIns="108000" rtlCol="0" anchor="ctr"/>
          <a:lstStyle/>
          <a:p>
            <a:pPr algn="ctr">
              <a:defRPr sz="2400" b="1">
                <a:solidFill>
                  <a:srgbClr val="10B981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02</a:t>
            </a:r>
            <a:endParaRPr>
              <a:latin typeface="Times New Roman" panose="02020503050405090304"/>
            </a:endParaRP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长上下文 ≠ 长期记忆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600"/>
              </a:spcBef>
              <a:defRPr sz="600">
                <a:solidFill>
                  <a:srgbClr val="10B981"/>
                </a:solidFill>
              </a:defRPr>
            </a:pPr>
            <a:r>
              <a:rPr>
                <a:latin typeface="Times New Roman" panose="02020503050405090304"/>
              </a:rPr>
              <a:t>────────────────────</a:t>
            </a:r>
            <a:endParaRPr>
              <a:latin typeface="Times New Roman" panose="02020503050405090304"/>
            </a:endParaRPr>
          </a:p>
          <a:p>
            <a:pPr>
              <a:spcBef>
                <a:spcPts val="800"/>
              </a:spcBef>
              <a:defRPr sz="9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长上下文解决一次会话能读多少，长期记忆解决跨会话保存什么、何时更新、何时遗忘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800"/>
              </a:spcBef>
              <a:defRPr sz="9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把所有历史塞入超长上下文，成本高、噪声大，无法解决冲突和删除问题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20000" y="1800000"/>
            <a:ext cx="3384000" cy="414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44000" rIns="108000" rtlCol="0" anchor="ctr"/>
          <a:lstStyle/>
          <a:p>
            <a:pPr algn="ctr">
              <a:defRPr sz="2400" b="1">
                <a:solidFill>
                  <a:srgbClr val="10B981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03</a:t>
            </a:r>
            <a:endParaRPr>
              <a:latin typeface="Times New Roman" panose="02020503050405090304"/>
            </a:endParaRP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RAG → Context Engineering</a:t>
            </a:r>
            <a:endParaRPr>
              <a:latin typeface="Times New Roman" panose="02020503050405090304"/>
            </a:endParaRPr>
          </a:p>
          <a:p>
            <a:pPr>
              <a:spcBef>
                <a:spcPts val="600"/>
              </a:spcBef>
              <a:defRPr sz="600">
                <a:solidFill>
                  <a:srgbClr val="10B981"/>
                </a:solidFill>
              </a:defRPr>
            </a:pPr>
            <a:r>
              <a:rPr>
                <a:latin typeface="Times New Roman" panose="02020503050405090304"/>
              </a:rPr>
              <a:t>────────────────────</a:t>
            </a:r>
            <a:endParaRPr>
              <a:latin typeface="Times New Roman" panose="02020503050405090304"/>
            </a:endParaRPr>
          </a:p>
          <a:p>
            <a:pPr>
              <a:spcBef>
                <a:spcPts val="800"/>
              </a:spcBef>
              <a:defRPr sz="9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未来重点不是单独优化向量召回，而是动态组织用户目标、任务状态、历史记忆、外部知识、工具返回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800"/>
              </a:spcBef>
              <a:defRPr sz="9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RAG 会成为 Context Engineering 的一个子模块，而非独立系统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24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3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未来 AI 趋势判断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0000" y="1007999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4A6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FUTURE TRENDS  ·  6 大趋势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0000" y="1440000"/>
            <a:ext cx="2484000" cy="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0000" y="1800000"/>
            <a:ext cx="3384000" cy="414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44000" rIns="108000" rtlCol="0" anchor="ctr"/>
          <a:lstStyle/>
          <a:p>
            <a:pPr algn="ctr">
              <a:defRPr sz="2400" b="1">
                <a:solidFill>
                  <a:srgbClr val="10B981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04</a:t>
            </a:r>
            <a:endParaRPr>
              <a:latin typeface="Times New Roman" panose="02020503050405090304"/>
            </a:endParaRP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程序性记忆更值钱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600"/>
              </a:spcBef>
              <a:defRPr sz="600">
                <a:solidFill>
                  <a:srgbClr val="10B981"/>
                </a:solidFill>
              </a:defRPr>
            </a:pPr>
            <a:r>
              <a:rPr>
                <a:latin typeface="Times New Roman" panose="02020503050405090304"/>
              </a:rPr>
              <a:t>────────────────────</a:t>
            </a:r>
            <a:endParaRPr>
              <a:latin typeface="Times New Roman" panose="02020503050405090304"/>
            </a:endParaRPr>
          </a:p>
          <a:p>
            <a:pPr>
              <a:spcBef>
                <a:spcPts val="800"/>
              </a:spcBef>
              <a:defRPr sz="9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企业真正需要 Agent 记住的往往不是"用户说过什么"，而是哪套流程曾经成功、哪些步骤容易失败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800"/>
              </a:spcBef>
              <a:defRPr sz="9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把知识从"可搜索文本"升级为"可执行能力"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20000" y="1800000"/>
            <a:ext cx="3384000" cy="414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44000" rIns="108000" rtlCol="0" anchor="ctr"/>
          <a:lstStyle/>
          <a:p>
            <a:pPr algn="ctr">
              <a:defRPr sz="2400" b="1">
                <a:solidFill>
                  <a:srgbClr val="10B981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05</a:t>
            </a:r>
            <a:endParaRPr>
              <a:latin typeface="Times New Roman" panose="02020503050405090304"/>
            </a:endParaRP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Agent 成本重新定义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600"/>
              </a:spcBef>
              <a:defRPr sz="600">
                <a:solidFill>
                  <a:srgbClr val="10B981"/>
                </a:solidFill>
              </a:defRPr>
            </a:pPr>
            <a:r>
              <a:rPr>
                <a:latin typeface="Times New Roman" panose="02020503050405090304"/>
              </a:rPr>
              <a:t>────────────────────</a:t>
            </a:r>
            <a:endParaRPr>
              <a:latin typeface="Times New Roman" panose="02020503050405090304"/>
            </a:endParaRPr>
          </a:p>
          <a:p>
            <a:pPr>
              <a:spcBef>
                <a:spcPts val="800"/>
              </a:spcBef>
              <a:defRPr sz="9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从 Token 成本转向完整任务成本：失败重试 + 工具等待 + 记忆检索 + 人工复核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800"/>
              </a:spcBef>
              <a:defRPr sz="9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成本核算单位从"百万 Token"转向"每个成功任务"和"每个可验证结果"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20000" y="1800000"/>
            <a:ext cx="3384000" cy="4140000"/>
          </a:xfrm>
          <a:prstGeom prst="round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44000" rIns="108000" rtlCol="0" anchor="ctr"/>
          <a:lstStyle/>
          <a:p>
            <a:pPr algn="ctr">
              <a:defRPr sz="2400" b="1">
                <a:solidFill>
                  <a:srgbClr val="10B981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06</a:t>
            </a:r>
            <a:endParaRPr>
              <a:latin typeface="Times New Roman" panose="02020503050405090304"/>
            </a:endParaRP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记忆安全 = 新攻击面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600"/>
              </a:spcBef>
              <a:defRPr sz="600">
                <a:solidFill>
                  <a:srgbClr val="10B981"/>
                </a:solidFill>
              </a:defRPr>
            </a:pPr>
            <a:r>
              <a:rPr>
                <a:latin typeface="Times New Roman" panose="02020503050405090304"/>
              </a:rPr>
              <a:t>────────────────────</a:t>
            </a:r>
            <a:endParaRPr>
              <a:latin typeface="Times New Roman" panose="02020503050405090304"/>
            </a:endParaRPr>
          </a:p>
          <a:p>
            <a:pPr>
              <a:spcBef>
                <a:spcPts val="800"/>
              </a:spcBef>
              <a:defRPr sz="9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提示词注入写入长期记忆、共享知识库跨用户泄漏、错误摘要污染后续行动</a:t>
            </a:r>
            <a:endParaRPr>
              <a:latin typeface="PingFang SC" panose="020B0400000000000000" charset="-122"/>
            </a:endParaRPr>
          </a:p>
          <a:p>
            <a:pPr>
              <a:spcBef>
                <a:spcPts val="800"/>
              </a:spcBef>
              <a:defRPr sz="900">
                <a:solidFill>
                  <a:srgbClr val="E8ECF0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删除原文但未删除派生记忆、Agent 从历史日志中恢复敏感信息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12000" y="62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Times New Roman" panose="02020503050405090304"/>
              </a:rPr>
              <a:t>25 / 26</a:t>
            </a:r>
            <a:endParaRPr>
              <a:latin typeface="Times New Roman" panose="020205030504050903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8000"/>
            <a:ext cx="12204000" cy="46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252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感谢阅读</a:t>
            </a:r>
            <a:endParaRPr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0000" y="468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678"/>
                </a:solidFill>
                <a:latin typeface="微软雅黑"/>
              </a:defRPr>
            </a:pPr>
            <a:r>
              <a:rPr>
                <a:latin typeface="PingFang SC" panose="020B0400000000000000" charset="-122"/>
              </a:rPr>
              <a:t>最后核验时间：2026 年 6 月 15 日</a:t>
            </a:r>
            <a:endParaRPr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7548</Words>
  <Application>WPS 演示</Application>
  <PresentationFormat>On-screen Show (4:3)</PresentationFormat>
  <Paragraphs>745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6" baseType="lpstr">
      <vt:lpstr>Arial</vt:lpstr>
      <vt:lpstr>宋体</vt:lpstr>
      <vt:lpstr>Wingdings</vt:lpstr>
      <vt:lpstr>Arial</vt:lpstr>
      <vt:lpstr>微软雅黑</vt:lpstr>
      <vt:lpstr>汉仪旗黑</vt:lpstr>
      <vt:lpstr>PingFang SC</vt:lpstr>
      <vt:lpstr>Times New Roman</vt:lpstr>
      <vt:lpstr>Calibri</vt:lpstr>
      <vt:lpstr>Helvetica Neue</vt:lpstr>
      <vt:lpstr>宋体</vt:lpstr>
      <vt:lpstr>汉仪书宋二KW</vt:lpstr>
      <vt:lpstr>微软雅黑</vt:lpstr>
      <vt:lpstr>Arial Unicode MS</vt:lpstr>
      <vt:lpstr>Times New Roman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Ac-cham</cp:lastModifiedBy>
  <cp:revision>2</cp:revision>
  <dcterms:created xsi:type="dcterms:W3CDTF">2026-06-15T03:25:46Z</dcterms:created>
  <dcterms:modified xsi:type="dcterms:W3CDTF">2026-06-15T03:25:46Z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6D90330AE51D8D2FBA702F6AED3849BC_42</vt:lpwstr>
  </property>
  <property fmtid="{D5CDD505-2E9C-101B-9397-08002B2CF9AE}" pid="3" name="KSOProductBuildVer">
    <vt:lpwstr>2052-12.1.26016.26016</vt:lpwstr>
  </property>
</Properties>
</file>