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fc481e5e744df" /><Relationship Type="http://schemas.openxmlformats.org/officeDocument/2006/relationships/extended-properties" Target="/docProps/app.xml" Id="Rc5a4c903b0264111" /><Relationship Type="http://schemas.openxmlformats.org/officeDocument/2006/relationships/officeDocument" Target="/ppt/presentation.xml" Id="Rd16f6f6a493e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9c64b7230a43e3"/>
    <p:sldMasterId xmlns:r="http://schemas.openxmlformats.org/officeDocument/2006/relationships" id="2147483660" r:id="Rc653c0e381ff40b8"/>
  </p:sldMasterIdLst>
  <p:notesMasterIdLst>
    <p:notesMasterId xmlns:r="http://schemas.openxmlformats.org/officeDocument/2006/relationships" r:id="R9d9354a8e0c24f6c"/>
  </p:notesMasterIdLst>
  <p:sldIdLst>
    <p:sldId xmlns:r="http://schemas.openxmlformats.org/officeDocument/2006/relationships" id="256" r:id="R75bd891b1e1249f3"/>
    <p:sldId xmlns:r="http://schemas.openxmlformats.org/officeDocument/2006/relationships" id="257" r:id="R5fad39f0c6a84c25"/>
    <p:sldId xmlns:r="http://schemas.openxmlformats.org/officeDocument/2006/relationships" id="258" r:id="R707d67607367480f"/>
    <p:sldId xmlns:r="http://schemas.openxmlformats.org/officeDocument/2006/relationships" id="259" r:id="Reb284d4e8f7347b4"/>
    <p:sldId xmlns:r="http://schemas.openxmlformats.org/officeDocument/2006/relationships" id="260" r:id="R907762134cab4aeb"/>
    <p:sldId xmlns:r="http://schemas.openxmlformats.org/officeDocument/2006/relationships" id="261" r:id="R519c5cf16a824bcc"/>
    <p:sldId xmlns:r="http://schemas.openxmlformats.org/officeDocument/2006/relationships" id="262" r:id="R161c19d6ef434b73"/>
    <p:sldId xmlns:r="http://schemas.openxmlformats.org/officeDocument/2006/relationships" id="263" r:id="R1f66314901ac45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f61c5547e74294" /><Relationship Type="http://schemas.openxmlformats.org/officeDocument/2006/relationships/slideMaster" Target="/ppt/slideMasters/slideMaster1.xml" Id="R099c64b7230a43e3" /><Relationship Type="http://schemas.openxmlformats.org/officeDocument/2006/relationships/slideMaster" Target="/ppt/slideMasters/slideMaster2.xml" Id="Rc653c0e381ff40b8" /><Relationship Type="http://schemas.openxmlformats.org/officeDocument/2006/relationships/notesMaster" Target="/ppt/notesMasters/notesMaster1.xml" Id="R9d9354a8e0c24f6c" /><Relationship Type="http://schemas.openxmlformats.org/officeDocument/2006/relationships/presProps" Target="/ppt/presProps.xml" Id="Rf91249c3903d4477" /><Relationship Type="http://schemas.openxmlformats.org/officeDocument/2006/relationships/viewProps" Target="/ppt/viewProps.xml" Id="Raa5a1f97e8e9436e" /><Relationship Type="http://schemas.openxmlformats.org/officeDocument/2006/relationships/tableStyles" Target="/ppt/tableStyles.xml" Id="Rae34d179f6a145fd" /><Relationship Type="http://schemas.openxmlformats.org/officeDocument/2006/relationships/slide" Target="/ppt/slides/slide1.xml" Id="R75bd891b1e1249f3" /><Relationship Type="http://schemas.openxmlformats.org/officeDocument/2006/relationships/slide" Target="/ppt/slides/slide2.xml" Id="R5fad39f0c6a84c25" /><Relationship Type="http://schemas.openxmlformats.org/officeDocument/2006/relationships/slide" Target="/ppt/slides/slide3.xml" Id="R707d67607367480f" /><Relationship Type="http://schemas.openxmlformats.org/officeDocument/2006/relationships/slide" Target="/ppt/slides/slide4.xml" Id="Reb284d4e8f7347b4" /><Relationship Type="http://schemas.openxmlformats.org/officeDocument/2006/relationships/slide" Target="/ppt/slides/slide5.xml" Id="R907762134cab4aeb" /><Relationship Type="http://schemas.openxmlformats.org/officeDocument/2006/relationships/slide" Target="/ppt/slides/slide6.xml" Id="R519c5cf16a824bcc" /><Relationship Type="http://schemas.openxmlformats.org/officeDocument/2006/relationships/slide" Target="/ppt/slides/slide7.xml" Id="R161c19d6ef434b73" /><Relationship Type="http://schemas.openxmlformats.org/officeDocument/2006/relationships/slide" Target="/ppt/slides/slide8.xml" Id="R1f66314901ac45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73099ecc7d74a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a1aa9e59f14fcc" /><Relationship Type="http://schemas.openxmlformats.org/officeDocument/2006/relationships/notesMaster" Target="/ppt/notesMasters/notesMaster1.xml" Id="Rcce94e50ce5340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c73ba5f93e481b" /><Relationship Type="http://schemas.openxmlformats.org/officeDocument/2006/relationships/notesMaster" Target="/ppt/notesMasters/notesMaster1.xml" Id="R680df519285047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ad7e9e0bed45e9" /><Relationship Type="http://schemas.openxmlformats.org/officeDocument/2006/relationships/notesMaster" Target="/ppt/notesMasters/notesMaster1.xml" Id="R523a08eb93c144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90e15d05e4203" /><Relationship Type="http://schemas.openxmlformats.org/officeDocument/2006/relationships/notesMaster" Target="/ppt/notesMasters/notesMaster1.xml" Id="R7c9c2cda01c343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ac5a48f8934938" /><Relationship Type="http://schemas.openxmlformats.org/officeDocument/2006/relationships/notesMaster" Target="/ppt/notesMasters/notesMaster1.xml" Id="Rf57e66e807c6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20f8cfb88e4f74" /><Relationship Type="http://schemas.openxmlformats.org/officeDocument/2006/relationships/notesMaster" Target="/ppt/notesMasters/notesMaster1.xml" Id="R5fe1f11a4dec46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45494114dd4cc0" /><Relationship Type="http://schemas.openxmlformats.org/officeDocument/2006/relationships/notesMaster" Target="/ppt/notesMasters/notesMaster1.xml" Id="R3d77fcbc05604b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359734d8724d3d" /><Relationship Type="http://schemas.openxmlformats.org/officeDocument/2006/relationships/notesMaster" Target="/ppt/notesMasters/notesMaster1.xml" Id="Rfffec4fb89784a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e1a98f7f742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5083c4ab942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2c9236c3241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7c70f57da49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1794242604c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5da110c5948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787151c1f44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6202033db47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6f8f518af4b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78b84020244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bdf743d104a3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9d3a4ec055492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5A137CD8-9951-49CE-B306-0E95E8F637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E673F7AF-A59C-45B3-B132-74B42BF8E8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45DDC07C-543E-4BC4-BB71-611F14CE09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7356D43A-B4DD-42D6-A78C-3AD3AC1441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D52E42CA-C713-42A2-BDFA-6D0A2F0D24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03D16270-9D5C-491E-93A3-22D738233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27F96BCE-BFE8-48EF-8C73-BFED6205B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2D7A5D22-B931-4ADB-BDD0-46D0063336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AA13DCD4-41EC-4B96-9AD0-58A283B4A6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CCA95B5A-576D-4510-BA4F-12931FFA9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29BFD9DC-B4A0-458C-ACEB-3F6B01A57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3BE16BCC-D4F4-40A7-BFC1-5D0D0AFAB1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D13954AE-2E67-4D95-BF7E-3932DA864E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E2DC9D41-A246-41BC-BC82-83C9293E76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625297C0-189E-4BCC-B70E-D8E5AC1B6F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3A5D23DC-8CB9-4B16-8FAA-4DC05C4C4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DD519557-E34D-43F9-BE39-F3C1BCE7D6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98422A49-098B-44E6-B490-3319962A4B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5E79D908-1A6C-477F-B4EC-3689A84CF8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A5E830D8-BCE7-4107-BC3D-11640B71D3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978C7EF3-4DDC-4C37-BB15-7FD2209CF1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2A89E8D2-3C55-45FC-91AE-91E4911A1D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5A4495B-FB66-41B8-BCD2-7509B7401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6A8D2EA-79B0-4D99-8468-E4FD0D4BAF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221B2E2-6830-46B0-8384-B277CBEA4C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D2C2E17-C1DB-4611-965C-045B3FEC6C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38A9B35-61D7-4231-853D-81E943D66F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D71B1DE-2C98-46CC-A01B-0131AF9A7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E4D9E9B7-5EC5-49EF-ADB9-0D54116127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2D2B38CD-4483-496E-BB12-8EFC06823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FC661695-2991-47CC-8769-19F0F346BE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416A17AF-8A52-4911-B501-83735F2E4F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800C53C1-528B-40C3-81AA-9B84A1F5AC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0A55896-B55A-4CA4-B0C0-D916135ADC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675BFE29-F1D9-44F5-B31E-DFD644B604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FE60FDCF-341D-4AC3-B554-EF6D2098F1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88DC4327-2DDD-4590-A3E5-B9B738B28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DD870488-9F1C-4ABD-8D45-2F27826E22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3C48D288-2434-439A-B160-308D59D8D2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096B690E-05F6-414E-8039-F08A9CB39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0B7DFACE-5F1D-4493-996F-489C55B23E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BDEACB98-5767-4E5F-85BD-EDDB746B5B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2C749E1E-BF1C-44E9-A137-76259A535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7EBA676A-E173-4A81-8529-007F40F6478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7E2B1520-99A0-4DCF-AAD3-C378D5DC2B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77193F25-B1A0-4408-AFE3-F8435B40FF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A037182F-1CD9-40F1-873F-9E6650EF45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308BBA2B-F62B-42B8-90EA-00DE86144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29E26B8-DBFF-4506-8442-DD00E3893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6FEBB01-BDB3-4FA3-85CC-41A3D1004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A932AA11-B10F-468F-9CD9-A7A5E3A0AA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B3C6A839-BF15-4BC6-913B-AEE0F641F4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058DA934-D86B-4E12-A074-3E8FFF866B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5AA851AB-5F24-4005-A99B-18C602531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76BC1A9F-D38E-461A-872B-604E67B8D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1C2EDFD2-FBFD-4581-8CC8-69C278FA9E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D151BFC8-BB47-45A6-A3CC-134CA2D52A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1100AB5D-ED1A-4F6E-A8DF-4293D5A2B9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3565ddcd3b4725" /><Relationship Type="http://schemas.openxmlformats.org/officeDocument/2006/relationships/slideLayout" Target="/ppt/slideLayouts/slideLayout1.xml" Id="Recb7e1e61ea54100" /><Relationship Type="http://schemas.openxmlformats.org/officeDocument/2006/relationships/slideLayout" Target="/ppt/slideLayouts/slideLayout2.xml" Id="Ra373e560385c4556" /><Relationship Type="http://schemas.openxmlformats.org/officeDocument/2006/relationships/slideLayout" Target="/ppt/slideLayouts/slideLayout3.xml" Id="R53c6e29dc2f545ce" /><Relationship Type="http://schemas.openxmlformats.org/officeDocument/2006/relationships/slideLayout" Target="/ppt/slideLayouts/slideLayout4.xml" Id="R42d00e924e674504" /><Relationship Type="http://schemas.openxmlformats.org/officeDocument/2006/relationships/slideLayout" Target="/ppt/slideLayouts/slideLayout5.xml" Id="Ra70f18eb3396435c" /><Relationship Type="http://schemas.openxmlformats.org/officeDocument/2006/relationships/slideLayout" Target="/ppt/slideLayouts/slideLayout6.xml" Id="Rac2de0d8fe684550" /><Relationship Type="http://schemas.openxmlformats.org/officeDocument/2006/relationships/slideLayout" Target="/ppt/slideLayouts/slideLayout7.xml" Id="Refaeca5e4c6f43f4" /><Relationship Type="http://schemas.openxmlformats.org/officeDocument/2006/relationships/slideLayout" Target="/ppt/slideLayouts/slideLayout8.xml" Id="R78031e7238bb4b24" /><Relationship Type="http://schemas.openxmlformats.org/officeDocument/2006/relationships/slideLayout" Target="/ppt/slideLayouts/slideLayout9.xml" Id="Rd07ac9461a2d4d3d" /><Relationship Type="http://schemas.openxmlformats.org/officeDocument/2006/relationships/slideLayout" Target="/ppt/slideLayouts/slideLayout10.xml" Id="Rc97fe264aedf4383" /><Relationship Type="http://schemas.openxmlformats.org/officeDocument/2006/relationships/slideLayout" Target="/ppt/slideLayouts/slideLayout11.xml" Id="R3b27aa6235f644a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39022d6d3794408" /><Relationship Type="http://schemas.openxmlformats.org/officeDocument/2006/relationships/slideLayout" Target="/ppt/slideLayouts/slideLayout12.xml" Id="R9f94ae667336447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7BB37078-AE74-40AB-9D68-21AF2F965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9D473C4-4843-4873-9F0B-878D229F00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1C5333DA-49DC-4984-AE7E-9D22390A89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D5C94555-F8FC-4DF0-821A-F37AD12818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053891B9-A814-40A4-9863-812DE03834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b7e1e61ea54100"/>
    <p:sldLayoutId xmlns:r="http://schemas.openxmlformats.org/officeDocument/2006/relationships" id="2147483650" r:id="Ra373e560385c4556"/>
    <p:sldLayoutId xmlns:r="http://schemas.openxmlformats.org/officeDocument/2006/relationships" id="2147483651" r:id="R53c6e29dc2f545ce"/>
    <p:sldLayoutId xmlns:r="http://schemas.openxmlformats.org/officeDocument/2006/relationships" id="2147483652" r:id="R42d00e924e674504"/>
    <p:sldLayoutId xmlns:r="http://schemas.openxmlformats.org/officeDocument/2006/relationships" id="2147483653" r:id="Ra70f18eb3396435c"/>
    <p:sldLayoutId xmlns:r="http://schemas.openxmlformats.org/officeDocument/2006/relationships" id="2147483654" r:id="Rac2de0d8fe684550"/>
    <p:sldLayoutId xmlns:r="http://schemas.openxmlformats.org/officeDocument/2006/relationships" id="2147483655" r:id="Refaeca5e4c6f43f4"/>
    <p:sldLayoutId xmlns:r="http://schemas.openxmlformats.org/officeDocument/2006/relationships" id="2147483656" r:id="R78031e7238bb4b24"/>
    <p:sldLayoutId xmlns:r="http://schemas.openxmlformats.org/officeDocument/2006/relationships" id="2147483657" r:id="Rd07ac9461a2d4d3d"/>
    <p:sldLayoutId xmlns:r="http://schemas.openxmlformats.org/officeDocument/2006/relationships" id="2147483658" r:id="Rc97fe264aedf4383"/>
    <p:sldLayoutId xmlns:r="http://schemas.openxmlformats.org/officeDocument/2006/relationships" id="2147483659" r:id="R3b27aa6235f644a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f94ae667336447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2ac728d8c064be3" /><Relationship Type="http://schemas.openxmlformats.org/officeDocument/2006/relationships/notesSlide" Target="/ppt/notesSlides/notesSlide1.xml" Id="R3eb0a05fc7dc4d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6744d4874e422d" /><Relationship Type="http://schemas.openxmlformats.org/officeDocument/2006/relationships/notesSlide" Target="/ppt/notesSlides/notesSlide2.xml" Id="Re5fbb0779ea347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461c6a1d5b44fb" /><Relationship Type="http://schemas.openxmlformats.org/officeDocument/2006/relationships/image" Target="/ppt/media/image.png" Id="Rdfa8c17ed6ab4987" /><Relationship Type="http://schemas.openxmlformats.org/officeDocument/2006/relationships/image" Target="/ppt/media/image2.png" Id="Rbf3d7fe523de4956" /><Relationship Type="http://schemas.openxmlformats.org/officeDocument/2006/relationships/image" Target="/ppt/media/image3.png" Id="R8cd873583dcc4cab" /><Relationship Type="http://schemas.openxmlformats.org/officeDocument/2006/relationships/notesSlide" Target="/ppt/notesSlides/notesSlide3.xml" Id="R5117a08d9e3047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a1cb79ef2d4bf3" /><Relationship Type="http://schemas.openxmlformats.org/officeDocument/2006/relationships/notesSlide" Target="/ppt/notesSlides/notesSlide4.xml" Id="Re5a693e89eeb48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01b370ee20149f8" /><Relationship Type="http://schemas.openxmlformats.org/officeDocument/2006/relationships/notesSlide" Target="/ppt/notesSlides/notesSlide5.xml" Id="R49216870f076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69617aadac499e" /><Relationship Type="http://schemas.openxmlformats.org/officeDocument/2006/relationships/notesSlide" Target="/ppt/notesSlides/notesSlide6.xml" Id="R55806a671fc847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59a3a83e3b44d0" /><Relationship Type="http://schemas.openxmlformats.org/officeDocument/2006/relationships/image" Target="/ppt/media/image4.png" Id="Ra27bcfae2a4c400c" /><Relationship Type="http://schemas.openxmlformats.org/officeDocument/2006/relationships/image" Target="/ppt/media/image5.png" Id="Ra16e3f54964541c4" /><Relationship Type="http://schemas.openxmlformats.org/officeDocument/2006/relationships/image" Target="/ppt/media/image6.png" Id="Rca032477cbc94046" /><Relationship Type="http://schemas.openxmlformats.org/officeDocument/2006/relationships/image" Target="/ppt/media/image7.png" Id="R1260b726e2cf4fd5" /><Relationship Type="http://schemas.openxmlformats.org/officeDocument/2006/relationships/notesSlide" Target="/ppt/notesSlides/notesSlide7.xml" Id="R59aa0aad564a41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0c536626164f22" /><Relationship Type="http://schemas.openxmlformats.org/officeDocument/2006/relationships/notesSlide" Target="/ppt/notesSlides/notesSlide8.xml" Id="R05203f43687446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24F6C79-3D38-4EB6-8579-13920B88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i="0" u="none">
                <a:solidFill>
                  <a:srgbClr val="001E50"/>
                </a:solidFill>
                <a:latin typeface="PingFang SC"/>
                <a:ea typeface="PingFang SC"/>
                <a:cs typeface="PingFang SC"/>
              </a:rPr>
              <a:t>产研线 AI 赋能阶段成效与规模化建议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F55E019-B2E3-4E79-8298-D5A8A596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6000" y="3284220"/>
            <a:ext cx="189738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3" name="Connector 5"/>
          <p:cNvCxnSpPr/>
          <p:nvPr/>
        </p:nvCxnSpPr>
        <p:spPr>
          <a:xfrm xmlns:a="http://schemas.openxmlformats.org/drawingml/2006/main" rot="-4297">
            <a:off x="1016004" y="5708650"/>
            <a:ext cx="1016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61DED6F-DF54-45B4-8A46-4C3CCB3F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905500"/>
            <a:ext cx="482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00" b="0" i="0" u="none">
                <a:solidFill>
                  <a:srgbClr val="999999"/>
                </a:solidFill>
                <a:latin typeface="PingFang SC"/>
                <a:ea typeface="PingFang SC"/>
                <a:cs typeface="PingFang SC"/>
              </a:rPr>
              <a:t>汇报时间：2026年6月</a:t>
            </a:r>
          </a:p>
        </p:txBody>
      </p:sp>
    </p:spTree>
    <p:extLst>
      <p:ext uri="{BB962C8B-B14F-4D97-AF65-F5344CB8AC3E}">
        <p14:creationId xmlns:p14="http://schemas.microsoft.com/office/powerpoint/2010/main" val="2051467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C2A733F-CA66-46BF-81EF-9371A45F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001E50"/>
                </a:solidFill>
                <a:latin typeface="PingFang SC Semibold"/>
                <a:ea typeface="PingFang SC Semibold"/>
                <a:cs typeface="PingFang SC Semibold"/>
              </a:rPr>
              <a:t>AI 已覆盖产研全流程，提效证据集中在四类场景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8A3FAA0-F702-45A7-8F47-0BF26B41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25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7" name="Table 4"/>
          <p:cNvGraphicFramePr/>
          <p:nvPr/>
        </p:nvGraphicFramePr>
        <p:xfrm>
          <a:off xmlns:a="http://schemas.openxmlformats.org/drawingml/2006/main" x="762000" y="1612900"/>
          <a:ext xmlns:a="http://schemas.openxmlformats.org/drawingml/2006/main" cx="10668000" cy="469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2000"/>
                <a:gridCol w="2794000"/>
                <a:gridCol w="3048000"/>
                <a:gridCol w="2794000"/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1" i="0" u="none">
                          <a:solidFill>
                            <a:srgbClr val="FFFFFF"/>
                          </a:solidFill>
                          <a:latin typeface="PingFang SC Semibold"/>
                          <a:ea typeface="PingFang SC Semibold"/>
                          <a:cs typeface="PingFang SC Semibold"/>
                        </a:rPr>
                        <a:t>岗位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1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1" i="0" u="none">
                          <a:solidFill>
                            <a:srgbClr val="FFFFFF"/>
                          </a:solidFill>
                          <a:latin typeface="PingFang SC Semibold"/>
                          <a:ea typeface="PingFang SC Semibold"/>
                          <a:cs typeface="PingFang SC Semibold"/>
                        </a:rPr>
                        <a:t>AI 参与环节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1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1" i="0" u="none">
                          <a:solidFill>
                            <a:srgbClr val="FFFFFF"/>
                          </a:solidFill>
                          <a:latin typeface="PingFang SC Semibold"/>
                          <a:ea typeface="PingFang SC Semibold"/>
                          <a:cs typeface="PingFang SC Semibold"/>
                        </a:rPr>
                        <a:t>已验证结果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1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1" i="0" u="none">
                          <a:solidFill>
                            <a:srgbClr val="FFFFFF"/>
                          </a:solidFill>
                          <a:latin typeface="PingFang SC Semibold"/>
                          <a:ea typeface="PingFang SC Semibold"/>
                          <a:cs typeface="PingFang SC Semibold"/>
                        </a:rPr>
                        <a:t>下一步验证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1E50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1E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产品经理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需求拆解、PRD、交互原型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3个原型：5天→3天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工时节省40%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一次通过率、需求变更率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1E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UI 设计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IP形象、视觉稿、组件设计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周期工时节省33%–65%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前端还原度80%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修改轮次、返工工时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1E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前端开发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页面还原、组件、接口联调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典型任务4天→2天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工时节省50%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代码采纳、审查、缺陷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1E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后端开发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业务代码、接口、技术文档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典型任务18h→12h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工时节省33%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返工率、缺陷密度、CI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 w="12700" cmpd="sng">
                      <a:solidFill>
                        <a:srgbClr val="4A90E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1E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测试工程师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用例设计、自动化、报告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两个模块6天→3天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工时节省50%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333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用例有效率、漏测率</a:t>
                      </a: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4A90E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08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E0BF433-9466-4906-8C45-23B2E41A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001E50"/>
                </a:solidFill>
                <a:latin typeface="PingFang SC Semibold"/>
                <a:ea typeface="PingFang SC Semibold"/>
                <a:cs typeface="PingFang SC Semibold"/>
              </a:rPr>
              <a:t>产品：3个原型样本均由5天降至3天，工时节省40%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04A9301-F4D4-4658-AD59-B8622139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CDF2B7C-F82B-440E-BA01-F71BEBB2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" y="1739900"/>
            <a:ext cx="2922905" cy="368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26759AD-EB97-4945-B566-2FCEBC5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" y="1739900"/>
            <a:ext cx="2922905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8c17ed6ab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22475" y="20574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D45B542A-AFA8-45E9-9EC8-052BF56C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755900"/>
            <a:ext cx="1397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rgbClr val="4A90E2"/>
                </a:solidFill>
                <a:latin typeface="PingFang SC Semibold"/>
                <a:ea typeface="PingFang SC Semibold"/>
                <a:cs typeface="PingFang SC Semibold"/>
              </a:rPr>
              <a:t>40%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E663A4D5-FDC7-4CAF-92AC-2A7F79C4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" y="3683000"/>
            <a:ext cx="25266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600" i="0" u="none">
                <a:solidFill>
                  <a:srgbClr val="001E50"/>
                </a:solidFill>
                <a:latin typeface="PingFang SC"/>
                <a:ea typeface="PingFang SC"/>
                <a:cs typeface="PingFang SC"/>
              </a:rPr>
              <a:t>AI 工作台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2ED88C5-B1A5-4DC4-AB03-12C4BA6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" y="4330700"/>
            <a:ext cx="252666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5天 → 3天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节省2个工作日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7D8652A9-AA97-4010-A6D4-645FA38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39900"/>
            <a:ext cx="2922905" cy="368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8BB3F6E3-DC85-46DA-859D-87CBFE6D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39900"/>
            <a:ext cx="2922905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5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d7fe523de49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5325" y="20574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C9B1AD5D-9E59-4F1C-A9AD-C533C28A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120" y="2755900"/>
            <a:ext cx="1397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rgbClr val="4A90E2"/>
                </a:solidFill>
                <a:latin typeface="PingFang SC Semibold"/>
                <a:ea typeface="PingFang SC Semibold"/>
                <a:cs typeface="PingFang SC Semibold"/>
              </a:rPr>
              <a:t>40%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8E3B917A-9762-4B87-83B7-2E1DB658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120" y="3683000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600" i="0" u="none">
                <a:solidFill>
                  <a:srgbClr val="001E50"/>
                </a:solidFill>
                <a:latin typeface="PingFang SC"/>
                <a:ea typeface="PingFang SC"/>
                <a:cs typeface="PingFang SC"/>
              </a:rPr>
              <a:t>人员管理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780FD7FB-2C2A-494D-BC86-CB0EF14C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605" y="4395470"/>
            <a:ext cx="2526665" cy="63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5天 → 3天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节省2个工作日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0DA93B43-7B97-4384-AAB0-B46F8DCB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95" y="1739900"/>
            <a:ext cx="2922905" cy="368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BC093D7B-7B38-4029-BB09-6EA35788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95" y="1739900"/>
            <a:ext cx="2922905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873583dcc4c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2465" y="20574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5371F693-E963-4D28-B5A3-3950022D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165" y="2755900"/>
            <a:ext cx="1397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rgbClr val="4A90E2"/>
                </a:solidFill>
                <a:latin typeface="PingFang SC Semibold"/>
                <a:ea typeface="PingFang SC Semibold"/>
                <a:cs typeface="PingFang SC Semibold"/>
              </a:rPr>
              <a:t>40%</a:t>
            </a: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760D4062-0F1E-4B1D-821C-3906AEDD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165" y="3683000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600" i="0" u="none">
                <a:solidFill>
                  <a:srgbClr val="001E50"/>
                </a:solidFill>
                <a:latin typeface="PingFang SC"/>
                <a:ea typeface="PingFang SC"/>
                <a:cs typeface="PingFang SC"/>
              </a:rPr>
              <a:t>AI+BI 中台</a:t>
            </a:r>
          </a:p>
        </p:txBody>
      </p:sp>
      <p:sp>
        <p:nvSpPr>
          <p:cNvPr id="30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2F43E04A-A572-4D98-8F92-7549966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4395470"/>
            <a:ext cx="2526665" cy="63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5天 → 3天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节省2个工作日</a:t>
            </a:r>
          </a:p>
        </p:txBody>
      </p:sp>
      <p:sp>
        <p:nvSpPr>
          <p:cNvPr id="31" name="s4-task-1-time">
            <a:extLst xmlns:a="http://schemas.openxmlformats.org/drawingml/2006/main">
              <a:ext uri="{FF2B5EF4-FFF2-40B4-BE49-F238E27FC236}">
                <a16:creationId xmlns:a16="http://schemas.microsoft.com/office/drawing/2014/main" id="{12FB3BAA-C874-4326-9B47-4AA00267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95" y="5956300"/>
            <a:ext cx="1045400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F2937"/>
                </a:solidFill>
              </a:defRPr>
            </a:pPr>
            <a:r>
              <a:rPr sz="2100">
                <a:solidFill>
                  <a:srgbClr val="1F2937"/>
                </a:solidFill>
                <a:latin typeface="PingFang SC Semibold"/>
                <a:ea typeface="PingFang SC Semibold"/>
                <a:cs typeface="PingFang SC Semibold"/>
              </a:rPr>
              <a:t>口径：工时节省率40%；对应产出效率提升约67%</a:t>
            </a:r>
          </a:p>
        </p:txBody>
      </p:sp>
    </p:spTree>
    <p:extLst>
      <p:ext uri="{BB962C8B-B14F-4D97-AF65-F5344CB8AC3E}">
        <p14:creationId xmlns:p14="http://schemas.microsoft.com/office/powerpoint/2010/main" val="1308508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8E6B8D-8FF1-45F8-966D-DCAB06A1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001E50"/>
                </a:solidFill>
                <a:latin typeface="PingFang SC Semibold"/>
                <a:ea typeface="PingFang SC Semibold"/>
                <a:cs typeface="PingFang SC Semibold"/>
              </a:rPr>
              <a:t>UI：设计周期工时节省33%–65%，前端还原度达到80%</a:t>
            </a:r>
          </a:p>
        </p:txBody>
      </p:sp>
      <p:cxnSp>
        <p:nvCxnSpPr>
          <p:cNvPr id="46" name="Connector 3"/>
          <p:cNvCxnSpPr/>
          <p:nvPr/>
        </p:nvCxnSpPr>
        <p:spPr>
          <a:xfrm xmlns:a="http://schemas.openxmlformats.org/drawingml/2006/main" rot="-4092">
            <a:off x="762004" y="1454150"/>
            <a:ext cx="1066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4A90E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E1AA625C-E966-4D3E-9625-507A286F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7470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3000"/>
            </a:srgbClr>
          </a:solidFill>
          <a:ln xmlns:a="http://schemas.openxmlformats.org/drawingml/2006/main" w="12700" cmpd="sng">
            <a:solidFill>
              <a:srgbClr val="001E50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0C87ED73-3649-44B6-858F-7FB3B201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44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IP形象设计周期</a:t>
            </a:r>
          </a:p>
        </p:txBody>
      </p:sp>
      <p:cxnSp>
        <p:nvCxnSpPr>
          <p:cNvPr id="49" name="Connector 22"/>
          <p:cNvCxnSpPr/>
          <p:nvPr/>
        </p:nvCxnSpPr>
        <p:spPr>
          <a:xfrm xmlns:a="http://schemas.openxmlformats.org/drawingml/2006/main" flipV="1">
            <a:off x="952500" y="2349364"/>
            <a:ext cx="7159654" cy="136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FA7AC7F-90DB-4F2A-8465-C23BD0B9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00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F5A623"/>
                </a:solidFill>
                <a:latin typeface="PingFang SC Semibold"/>
                <a:ea typeface="PingFang SC Semibold"/>
                <a:cs typeface="PingFang SC Semibold"/>
              </a:rPr>
              <a:t>33%–65%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646464"/>
                </a:solidFill>
                <a:latin typeface="PingFang SC Regular"/>
                <a:ea typeface="PingFang SC Regular"/>
                <a:cs typeface="PingFang SC Regular"/>
              </a:rPr>
              <a:t>工时节省率</a:t>
            </a:r>
          </a:p>
        </p:txBody>
      </p:sp>
      <p:cxnSp>
        <p:nvCxnSpPr>
          <p:cNvPr id="51" name="Connector 24"/>
          <p:cNvCxnSpPr/>
          <p:nvPr/>
        </p:nvCxnSpPr>
        <p:spPr>
          <a:xfrm xmlns:a="http://schemas.openxmlformats.org/drawingml/2006/main" rot="5350892">
            <a:off x="2730500" y="3041695"/>
            <a:ext cx="889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96B9BAF7-793C-4C97-AA1B-10EFB15C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540000"/>
            <a:ext cx="476885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505050"/>
                </a:solidFill>
                <a:latin typeface="PingFang SC Regular"/>
                <a:ea typeface="PingFang SC Regular"/>
                <a:cs typeface="PingFang SC Regular"/>
              </a:rPr>
              <a:t>传统15–20天，AI辅助后7–10天；建议按同类型任务配对核算。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C66F2A41-96B6-415E-88AC-800C05F8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4318000"/>
            <a:ext cx="77470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3000"/>
            </a:srgbClr>
          </a:solidFill>
          <a:ln xmlns:a="http://schemas.openxmlformats.org/drawingml/2006/main" w="12700" cmpd="sng">
            <a:solidFill>
              <a:srgbClr val="001E50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A376CC27-E47C-4B37-8079-8D06A87C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4508500"/>
            <a:ext cx="444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设计交付质量</a:t>
            </a:r>
          </a:p>
        </p:txBody>
      </p:sp>
      <p:cxnSp>
        <p:nvCxnSpPr>
          <p:cNvPr id="55" name="Connector 28"/>
          <p:cNvCxnSpPr/>
          <p:nvPr/>
        </p:nvCxnSpPr>
        <p:spPr>
          <a:xfrm xmlns:a="http://schemas.openxmlformats.org/drawingml/2006/main" flipV="1">
            <a:off x="3873500" y="4952962"/>
            <a:ext cx="7125364" cy="38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57E1AFF-8DC2-48F2-B311-9D1682A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52070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4A90E2"/>
                </a:solidFill>
                <a:latin typeface="PingFang SC Semibold"/>
                <a:ea typeface="PingFang SC Semibold"/>
                <a:cs typeface="PingFang SC Semibold"/>
              </a:rPr>
              <a:t>80%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646464"/>
                </a:solidFill>
                <a:latin typeface="PingFang SC Regular"/>
                <a:ea typeface="PingFang SC Regular"/>
                <a:cs typeface="PingFang SC Regular"/>
              </a:rPr>
              <a:t>前端还原度</a:t>
            </a:r>
          </a:p>
        </p:txBody>
      </p:sp>
      <p:cxnSp>
        <p:nvCxnSpPr>
          <p:cNvPr id="57" name="Connector 30"/>
          <p:cNvCxnSpPr/>
          <p:nvPr/>
        </p:nvCxnSpPr>
        <p:spPr>
          <a:xfrm xmlns:a="http://schemas.openxmlformats.org/drawingml/2006/main" rot="5350892">
            <a:off x="5651500" y="5708695"/>
            <a:ext cx="889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2C5F842B-370A-43EE-AC00-E5D2DF6F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5207000"/>
            <a:ext cx="4859655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505050"/>
                </a:solidFill>
                <a:latin typeface="PingFang SC Regular"/>
                <a:ea typeface="PingFang SC Regular"/>
                <a:cs typeface="PingFang SC Regular"/>
              </a:rPr>
              <a:t>同步记录修改轮次、设计返工工时与前端二次调整工时。</a:t>
            </a:r>
          </a:p>
        </p:txBody>
      </p:sp>
    </p:spTree>
    <p:extLst>
      <p:ext uri="{BB962C8B-B14F-4D97-AF65-F5344CB8AC3E}">
        <p14:creationId xmlns:p14="http://schemas.microsoft.com/office/powerpoint/2010/main" val="1669600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41CE5D5-4FA7-43EA-98B2-E143B8FD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研发：典型任务工时节省33%–50%，需扣除审查与返工</a:t>
            </a:r>
          </a:p>
        </p:txBody>
      </p:sp>
      <p:cxnSp>
        <p:nvCxnSpPr>
          <p:cNvPr id="31" name="Connector 3"/>
          <p:cNvCxnSpPr/>
          <p:nvPr/>
        </p:nvCxnSpPr>
        <p:spPr>
          <a:xfrm xmlns:a="http://schemas.openxmlformats.org/drawingml/2006/main" rot="-4092">
            <a:off x="762004" y="1454150"/>
            <a:ext cx="1066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4A90E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1B700A8-A018-4B0D-86B1-1E0AFE31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5080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D777255-268A-4147-9158-DFC2FA72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1739900"/>
            <a:ext cx="254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已验证的编码场景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11FF289B-CE19-4EEE-BADC-7EF99A55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3000"/>
            <a:ext cx="4260215" cy="140716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4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43AB1C6-9CE6-493F-B4CE-63E70B5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6185"/>
            <a:ext cx="3818255" cy="1205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点云大屏地图交互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200" b="0" i="0" u="none">
                <a:solidFill>
                  <a:srgbClr val="6B7280"/>
                </a:solidFill>
                <a:latin typeface="PingFang SC Regular"/>
                <a:ea typeface="PingFang SC Regular"/>
                <a:cs typeface="PingFang SC Regular"/>
              </a:rPr>
              <a:t>4天→2天｜节省50%｜效率提升100%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BAEFD9E-AE61-4BEC-8AFF-309E6479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245" y="2413000"/>
            <a:ext cx="4260215" cy="140779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4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273795D-1C74-4A2B-A820-5D79A519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255" y="2498090"/>
            <a:ext cx="381889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文件管理：6天→4天｜节省33%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200" b="0" i="0" u="none">
                <a:solidFill>
                  <a:srgbClr val="6B7280"/>
                </a:solidFill>
                <a:latin typeface="PingFang SC Regular"/>
                <a:ea typeface="PingFang SC Regular"/>
                <a:cs typeface="PingFang SC Regular"/>
              </a:rPr>
              <a:t>站内信：18h→12h｜节省33%</a:t>
            </a:r>
          </a:p>
        </p:txBody>
      </p:sp>
      <p:cxnSp>
        <p:nvCxnSpPr>
          <p:cNvPr id="38" name="Connector 13"/>
          <p:cNvCxnSpPr/>
          <p:nvPr/>
        </p:nvCxnSpPr>
        <p:spPr>
          <a:xfrm xmlns:a="http://schemas.openxmlformats.org/drawingml/2006/main" rot="-4092">
            <a:off x="762004" y="4039235"/>
            <a:ext cx="1066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79411EBC-C7EA-4EC7-B6F8-0960F3A9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9585"/>
            <a:ext cx="5080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0AB9CCEC-7820-4A66-AD20-1784B934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4261485"/>
            <a:ext cx="324040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净效率核算与质量护栏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3965B42F-98FE-44EA-8CA4-6BF19CBE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6475"/>
            <a:ext cx="4260215" cy="140716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3C7152EA-0B87-401B-AF5D-0C02285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4968240"/>
            <a:ext cx="3940810" cy="1132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5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AI净工时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t>生成 + 提示词 + 审查 + 修改 + 调试返工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3AFB07B5-11E5-4401-A6B0-468E97A8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245" y="4798060"/>
            <a:ext cx="4260215" cy="142684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4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DF1CD90C-3355-4AE5-AFCA-E052919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255" y="4891405"/>
            <a:ext cx="3818890" cy="1200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5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必须同步</a:t>
            </a:r>
          </a:p>
          <a:p xmlns:a="http://schemas.openxmlformats.org/drawingml/2006/main">
            <a:pPr marL="0" indent="0" algn="ctr">
              <a:lnSpc>
                <a:spcPct val="117000"/>
              </a:lnSpc>
              <a:buNone/>
            </a:pPr>
            <a:r>
              <a:rPr sz="1200" b="0" i="0" u="none">
                <a:solidFill>
                  <a:srgbClr val="6B7280"/>
                </a:solidFill>
                <a:latin typeface="PingFang SC Regular"/>
                <a:ea typeface="PingFang SC Regular"/>
                <a:cs typeface="PingFang SC Regular"/>
              </a:rPr>
              <a:t>有效采纳率｜审查占比｜返工率｜缺陷密度</a:t>
            </a:r>
          </a:p>
        </p:txBody>
      </p:sp>
    </p:spTree>
    <p:extLst>
      <p:ext uri="{BB962C8B-B14F-4D97-AF65-F5344CB8AC3E}">
        <p14:creationId xmlns:p14="http://schemas.microsoft.com/office/powerpoint/2010/main" val="541803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00A3055-FA82-4465-B424-CBEDFF7F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001E50"/>
                </a:solidFill>
                <a:latin typeface="PingFang SC Semibold"/>
                <a:ea typeface="PingFang SC Semibold"/>
                <a:cs typeface="PingFang SC Semibold"/>
              </a:rPr>
              <a:t>测试：用例设计工时由6天降至3天，质量指标需同步验证</a:t>
            </a:r>
          </a:p>
        </p:txBody>
      </p:sp>
      <p:cxnSp>
        <p:nvCxnSpPr>
          <p:cNvPr id="41" name="Connector 3"/>
          <p:cNvCxnSpPr/>
          <p:nvPr/>
        </p:nvCxnSpPr>
        <p:spPr>
          <a:xfrm xmlns:a="http://schemas.openxmlformats.org/drawingml/2006/main" rot="-4092">
            <a:off x="762004" y="1517650"/>
            <a:ext cx="1066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4A90E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D69469B6-129A-4731-9D6C-5FAD3434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850" y="2219325"/>
            <a:ext cx="76200" cy="145986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4D45A343-F963-4839-9DF1-20440F0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5055" y="2219960"/>
            <a:ext cx="3244850" cy="1459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57000"/>
              </a:lnSpc>
              <a:buNone/>
            </a:pPr>
            <a:r>
              <a:rPr sz="1400" i="0" u="none">
                <a:solidFill>
                  <a:srgbClr val="374151"/>
                </a:solidFill>
                <a:latin typeface="PingFang SC"/>
                <a:ea typeface="PingFang SC"/>
                <a:cs typeface="PingFang SC"/>
              </a:rPr>
              <a:t>覆盖：文件管理、土方算量、CMMI5</a:t>
            </a:r>
          </a:p>
          <a:p xmlns:a="http://schemas.openxmlformats.org/drawingml/2006/main">
            <a:pPr marL="0" indent="0" algn="l">
              <a:lnSpc>
                <a:spcPct val="157000"/>
              </a:lnSpc>
              <a:buNone/>
            </a:pPr>
            <a:r>
              <a:rPr sz="1400" i="0" u="none">
                <a:solidFill>
                  <a:srgbClr val="374151"/>
                </a:solidFill>
                <a:latin typeface="PingFang SC"/>
                <a:ea typeface="PingFang SC"/>
                <a:cs typeface="PingFang SC"/>
              </a:rPr>
              <a:t>人工：审查、修改、返工工时</a:t>
            </a:r>
          </a:p>
          <a:p xmlns:a="http://schemas.openxmlformats.org/drawingml/2006/main">
            <a:pPr marL="0" indent="0" algn="l">
              <a:lnSpc>
                <a:spcPct val="157000"/>
              </a:lnSpc>
              <a:buNone/>
            </a:pPr>
            <a:r>
              <a:rPr sz="1400" i="0" u="none">
                <a:solidFill>
                  <a:srgbClr val="374151"/>
                </a:solidFill>
                <a:latin typeface="PingFang SC"/>
                <a:ea typeface="PingFang SC"/>
                <a:cs typeface="PingFang SC"/>
              </a:rPr>
              <a:t>质量：用例有效率、漏测率、逃逸率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75FF75F1-2EA2-4945-B26A-032A51A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" y="2095500"/>
            <a:ext cx="5744210" cy="176974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8783A62-6AA1-4A6A-A70F-747E5905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" y="2033270"/>
            <a:ext cx="5744845" cy="9969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1D8F390-FC22-4610-992E-627FE38C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270" y="259969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4800" b="1" i="0" u="none">
                <a:solidFill>
                  <a:schemeClr val="accent1">
                    <a:lumMod val="75000"/>
                  </a:schemeClr>
                </a:solidFill>
                <a:latin typeface="PingFang SC Semibold"/>
                <a:ea typeface="PingFang SC Semibold"/>
                <a:cs typeface="PingFang SC Semibold"/>
              </a:rPr>
              <a:t>50%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DE063CB-590C-461E-B76B-F1FB1E7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2726690"/>
            <a:ext cx="3047365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i="0" u="none">
                <a:solidFill>
                  <a:srgbClr val="001E50"/>
                </a:solidFill>
                <a:latin typeface="PingFang SC"/>
                <a:ea typeface="PingFang SC"/>
                <a:cs typeface="PingFang SC"/>
              </a:rPr>
              <a:t>工时节省率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4BC7AF63-1956-4BF6-8494-406796EE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" y="4106545"/>
            <a:ext cx="2686685" cy="165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1E50">
              <a:alpha val="4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7AE7D61C-70D6-4497-B8F3-C642525B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" y="4297045"/>
            <a:ext cx="18796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i="0" u="none">
                <a:solidFill>
                  <a:srgbClr val="001E50"/>
                </a:solidFill>
                <a:latin typeface="PingFang SC"/>
                <a:ea typeface="PingFang SC"/>
                <a:cs typeface="PingFang SC"/>
              </a:rPr>
              <a:t>传统模式</a:t>
            </a:r>
          </a:p>
        </p:txBody>
      </p:sp>
      <p:cxnSp>
        <p:nvCxnSpPr>
          <p:cNvPr id="50" name="Connector 19"/>
          <p:cNvCxnSpPr/>
          <p:nvPr/>
        </p:nvCxnSpPr>
        <p:spPr>
          <a:xfrm xmlns:a="http://schemas.openxmlformats.org/drawingml/2006/main" flipV="1">
            <a:off x="889635" y="4741408"/>
            <a:ext cx="2087927" cy="137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2D68F84-645B-4E74-9DFE-9A768012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" y="4932045"/>
            <a:ext cx="230886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2200" i="0" u="none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6天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2200" i="0" u="none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两个模块各3天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18FFEAEE-E319-4B9E-A163-67C2C1C7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620" y="4106545"/>
            <a:ext cx="2562860" cy="165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7C5723C2-4B6E-4C89-949A-17CC32BA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620" y="4297045"/>
            <a:ext cx="18796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i="0" u="none">
                <a:solidFill>
                  <a:srgbClr val="4A90E2"/>
                </a:solidFill>
                <a:latin typeface="PingFang SC"/>
                <a:ea typeface="PingFang SC"/>
                <a:cs typeface="PingFang SC"/>
              </a:rPr>
              <a:t>AI辅助模式</a:t>
            </a:r>
          </a:p>
        </p:txBody>
      </p:sp>
      <p:cxnSp>
        <p:nvCxnSpPr>
          <p:cNvPr id="54" name="Connector 23"/>
          <p:cNvCxnSpPr/>
          <p:nvPr/>
        </p:nvCxnSpPr>
        <p:spPr>
          <a:xfrm xmlns:a="http://schemas.openxmlformats.org/drawingml/2006/main" rot="-23227">
            <a:off x="4071641" y="4735195"/>
            <a:ext cx="18796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4A90E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BE472C69-229E-484E-94E8-546C4F68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620" y="4932045"/>
            <a:ext cx="187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2200" i="0" u="none">
                <a:solidFill>
                  <a:srgbClr val="4A90E2"/>
                </a:solidFill>
                <a:latin typeface="PingFang SC"/>
                <a:ea typeface="PingFang SC"/>
                <a:cs typeface="PingFang SC"/>
              </a:rPr>
              <a:t>3天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2200" i="0" u="none">
                <a:solidFill>
                  <a:srgbClr val="4A90E2"/>
                </a:solidFill>
                <a:latin typeface="PingFang SC"/>
                <a:ea typeface="PingFang SC"/>
                <a:cs typeface="PingFang SC"/>
              </a:rPr>
              <a:t>产出效率×2</a:t>
            </a:r>
          </a:p>
        </p:txBody>
      </p:sp>
    </p:spTree>
    <p:extLst>
      <p:ext uri="{BB962C8B-B14F-4D97-AF65-F5344CB8AC3E}">
        <p14:creationId xmlns:p14="http://schemas.microsoft.com/office/powerpoint/2010/main" val="687774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8698D34-447F-4300-8B42-C549D86C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001E50"/>
                </a:solidFill>
                <a:latin typeface="PingFang SC Semibold"/>
                <a:ea typeface="PingFang SC Semibold"/>
                <a:cs typeface="PingFang SC Semibold"/>
              </a:rPr>
              <a:t>工具选型转向“场景适配 + 成本、质量与风险可控”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D9DCAC9-1368-4638-BAA9-192E1BA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0500"/>
            <a:ext cx="10668000" cy="25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8244833-C056-4D78-B634-A10891DF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2540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bcfae2a4c40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413000"/>
            <a:ext cx="355600" cy="355600"/>
          </a:xfrm>
          <a:prstGeom xmlns:a="http://schemas.openxmlformats.org/drawingml/2006/main" prst="rect">
            <a:avLst/>
          </a:prstGeom>
        </p:spPr>
      </p:pic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6E46A00-4DB3-419B-8F80-79632010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7600"/>
            <a:ext cx="20828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产品经理</a:t>
            </a:r>
          </a:p>
        </p:txBody>
      </p:sp>
      <p:cxnSp>
        <p:nvCxnSpPr>
          <p:cNvPr id="70" name="Connector 7"/>
          <p:cNvCxnSpPr/>
          <p:nvPr/>
        </p:nvCxnSpPr>
        <p:spPr>
          <a:xfrm xmlns:a="http://schemas.openxmlformats.org/drawingml/2006/main" rot="-17188">
            <a:off x="762016" y="3105150"/>
            <a:ext cx="254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01376AD2-1004-4205-959A-57E3384C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54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Codex / DeepSeek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001E50">
                    <a:alpha val="74902"/>
                  </a:srgbClr>
                </a:solidFill>
                <a:latin typeface="PingFang SC Regular"/>
                <a:ea typeface="PingFang SC Regular"/>
                <a:cs typeface="PingFang SC Regular"/>
              </a:rPr>
              <a:t>PRD、分析与原型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6F74409-6582-492C-A041-48EEC453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" y="4876800"/>
            <a:ext cx="254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准入要求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001E50">
                    <a:alpha val="74902"/>
                  </a:srgbClr>
                </a:solidFill>
                <a:latin typeface="PingFang SC Regular"/>
                <a:ea typeface="PingFang SC Regular"/>
                <a:cs typeface="PingFang SC Regular"/>
              </a:rPr>
              <a:t>需求评审、事实核验、版本留痕</a:t>
            </a:r>
          </a:p>
        </p:txBody>
      </p:sp>
      <p:cxnSp>
        <p:nvCxnSpPr>
          <p:cNvPr id="73" name="Connector 10"/>
          <p:cNvCxnSpPr/>
          <p:nvPr/>
        </p:nvCxnSpPr>
        <p:spPr>
          <a:xfrm xmlns:a="http://schemas.openxmlformats.org/drawingml/2006/main" rot="5388910">
            <a:off x="1524000" y="4375160"/>
            <a:ext cx="3937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F2E77E2-0E7C-45C2-9819-C3B3EE3F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2000"/>
            <a:ext cx="2540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e3f54964541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413000"/>
            <a:ext cx="355600" cy="355600"/>
          </a:xfrm>
          <a:prstGeom xmlns:a="http://schemas.openxmlformats.org/drawingml/2006/main" prst="rect">
            <a:avLst/>
          </a:prstGeom>
        </p:spPr>
      </p:pic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FD7C415-50DB-4182-9EA2-BEC276A0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87600"/>
            <a:ext cx="20828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UI 设计</a:t>
            </a:r>
          </a:p>
        </p:txBody>
      </p:sp>
      <p:cxnSp>
        <p:nvCxnSpPr>
          <p:cNvPr id="77" name="Connector 14"/>
          <p:cNvCxnSpPr/>
          <p:nvPr/>
        </p:nvCxnSpPr>
        <p:spPr>
          <a:xfrm xmlns:a="http://schemas.openxmlformats.org/drawingml/2006/main" rot="-17188">
            <a:off x="3619516" y="3105150"/>
            <a:ext cx="254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ACEDD98-FA88-4EF3-9154-4A8B0FC3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540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Figma + 即梦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300">
                <a:solidFill>
                  <a:srgbClr val="001E50">
                    <a:alpha val="74902"/>
                  </a:srgbClr>
                </a:solidFill>
                <a:latin typeface="PingFang SC Regular"/>
                <a:ea typeface="PingFang SC Regular"/>
                <a:cs typeface="PingFang SC Regular"/>
              </a:rPr>
              <a:t>视觉生成与组件化设计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300">
                <a:solidFill>
                  <a:srgbClr val="001E50">
                    <a:alpha val="74902"/>
                  </a:srgbClr>
                </a:solidFill>
                <a:latin typeface="PingFang SC Regular"/>
                <a:ea typeface="PingFang SC Regular"/>
                <a:cs typeface="PingFang SC Regular"/>
              </a:rPr>
              <a:t>准入：版权、品牌规范、设计复核</a:t>
            </a:r>
          </a:p>
        </p:txBody>
      </p:sp>
      <p:cxnSp>
        <p:nvCxnSpPr>
          <p:cNvPr id="79" name="Connector 17"/>
          <p:cNvCxnSpPr/>
          <p:nvPr/>
        </p:nvCxnSpPr>
        <p:spPr>
          <a:xfrm xmlns:a="http://schemas.openxmlformats.org/drawingml/2006/main" rot="5388910">
            <a:off x="4381500" y="4375160"/>
            <a:ext cx="3937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AB53F873-1E85-4125-94FA-EE265B97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2000"/>
            <a:ext cx="2540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1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32477cbc940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413000"/>
            <a:ext cx="355600" cy="355600"/>
          </a:xfrm>
          <a:prstGeom xmlns:a="http://schemas.openxmlformats.org/drawingml/2006/main" prst="rect">
            <a:avLst/>
          </a:prstGeom>
        </p:spPr>
      </p:pic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BA493F03-8749-4CF6-A856-4C5BD15D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7600"/>
            <a:ext cx="20828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研发工程师</a:t>
            </a:r>
          </a:p>
        </p:txBody>
      </p:sp>
      <p:cxnSp>
        <p:nvCxnSpPr>
          <p:cNvPr id="83" name="Connector 21"/>
          <p:cNvCxnSpPr/>
          <p:nvPr/>
        </p:nvCxnSpPr>
        <p:spPr>
          <a:xfrm xmlns:a="http://schemas.openxmlformats.org/drawingml/2006/main" rot="-17188">
            <a:off x="6477016" y="3105150"/>
            <a:ext cx="254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2B6274C5-A949-4E4C-9351-9B0CC65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54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Trae + 统一模型API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001E50">
                    <a:alpha val="74902"/>
                  </a:srgbClr>
                </a:solidFill>
                <a:latin typeface="PingFang SC Regular"/>
                <a:ea typeface="PingFang SC Regular"/>
                <a:cs typeface="PingFang SC Regular"/>
              </a:rPr>
              <a:t>编码、文档与代码理解</a:t>
            </a:r>
          </a:p>
        </p:txBody>
      </p:sp>
      <p:cxnSp>
        <p:nvCxnSpPr>
          <p:cNvPr id="85" name="Connector 24"/>
          <p:cNvCxnSpPr/>
          <p:nvPr/>
        </p:nvCxnSpPr>
        <p:spPr>
          <a:xfrm xmlns:a="http://schemas.openxmlformats.org/drawingml/2006/main" rot="5388910">
            <a:off x="7239000" y="4375160"/>
            <a:ext cx="3937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C4A5EEAD-657B-4603-9A21-AED9895F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2000"/>
            <a:ext cx="2540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7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0b726e2cf4f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2413000"/>
            <a:ext cx="355600" cy="355600"/>
          </a:xfrm>
          <a:prstGeom xmlns:a="http://schemas.openxmlformats.org/drawingml/2006/main" prst="rect">
            <a:avLst/>
          </a:prstGeom>
        </p:spPr>
      </p:pic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692844B5-6BB5-435D-AD53-8103F6A3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7600"/>
            <a:ext cx="20828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测试工程师</a:t>
            </a:r>
          </a:p>
        </p:txBody>
      </p:sp>
      <p:cxnSp>
        <p:nvCxnSpPr>
          <p:cNvPr id="89" name="Connector 28"/>
          <p:cNvCxnSpPr/>
          <p:nvPr/>
        </p:nvCxnSpPr>
        <p:spPr>
          <a:xfrm xmlns:a="http://schemas.openxmlformats.org/drawingml/2006/main" rot="-17188">
            <a:off x="9334516" y="3105150"/>
            <a:ext cx="254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FDDFE8D3-F33D-4FFB-ADEA-A4883EA0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254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Trae + 自动化框架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001E50">
                    <a:alpha val="74902"/>
                  </a:srgbClr>
                </a:solidFill>
                <a:latin typeface="PingFang SC Regular"/>
                <a:ea typeface="PingFang SC Regular"/>
                <a:cs typeface="PingFang SC Regular"/>
              </a:rPr>
              <a:t>用例、脚本与报告</a:t>
            </a:r>
          </a:p>
        </p:txBody>
      </p:sp>
      <p:sp>
        <p:nvSpPr>
          <p:cNvPr id="31" name="AutoShape 9">
            <a:extLst xmlns:a="http://schemas.openxmlformats.org/drawingml/2006/main">
              <a:ext uri="{FF2B5EF4-FFF2-40B4-BE49-F238E27FC236}">
                <a16:creationId xmlns:a16="http://schemas.microsoft.com/office/drawing/2014/main" id="{C96864F3-6391-41CE-84E6-9C4BB94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890" y="4876800"/>
            <a:ext cx="254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600" b="1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准入要求</a:t>
            </a: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300">
                <a:solidFill>
                  <a:srgbClr val="001E50">
                    <a:alpha val="74902"/>
                  </a:srgbClr>
                </a:solidFill>
                <a:latin typeface="PingFang SC Regular"/>
                <a:ea typeface="PingFang SC Regular"/>
                <a:cs typeface="PingFang SC Regular"/>
              </a:rPr>
              <a:t>AI代码留痕、Review、CI与安全扫描</a:t>
            </a:r>
          </a:p>
        </p:txBody>
      </p:sp>
      <p:sp>
        <p:nvSpPr>
          <p:cNvPr id="16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4497074B-A7A4-4BEF-A990-71B1926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070" y="4868545"/>
            <a:ext cx="254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准入要求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001E50">
                    <a:alpha val="74902"/>
                  </a:srgbClr>
                </a:solidFill>
                <a:latin typeface="PingFang SC Regular"/>
                <a:ea typeface="PingFang SC Regular"/>
                <a:cs typeface="PingFang SC Regular"/>
              </a:rPr>
              <a:t>人工审查、结果复核、全过程可追溯</a:t>
            </a:r>
          </a:p>
        </p:txBody>
      </p:sp>
    </p:spTree>
    <p:extLst>
      <p:ext uri="{BB962C8B-B14F-4D97-AF65-F5344CB8AC3E}">
        <p14:creationId xmlns:p14="http://schemas.microsoft.com/office/powerpoint/2010/main" val="503578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8DC2AD0-E222-4F2B-8550-416590E6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001E50"/>
                </a:solidFill>
                <a:latin typeface="PingFang SC Semibold"/>
                <a:ea typeface="PingFang SC Semibold"/>
                <a:cs typeface="PingFang SC Semibold"/>
              </a:rPr>
              <a:t>下一阶段：用统一SOP把局部提效转化为可复制的净收益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F27AB84-4834-4472-A184-508B8CF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25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E626EBC-58CB-453E-B11A-F05ED152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2032000" cy="342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310F519-8228-4994-A868-A39432C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2032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F269AE8-1D30-4479-AD44-BE4BEF13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222500"/>
            <a:ext cx="177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01 产品经理</a:t>
            </a:r>
          </a:p>
        </p:txBody>
      </p:sp>
      <p:cxnSp>
        <p:nvCxnSpPr>
          <p:cNvPr id="60" name="Connector 7"/>
          <p:cNvCxnSpPr/>
          <p:nvPr/>
        </p:nvCxnSpPr>
        <p:spPr>
          <a:xfrm xmlns:a="http://schemas.openxmlformats.org/drawingml/2006/main" rot="-24554">
            <a:off x="889023" y="2724150"/>
            <a:ext cx="177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B6C2FDF-AF7E-48F7-B18A-6821821C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921000"/>
            <a:ext cx="1778000" cy="2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输入：业务目标与约束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AI产出：PRD、交互原型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质量闸门：需求评审、一次通过率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85431803-5C68-4261-850D-1AC02C9B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200" y="2032000"/>
            <a:ext cx="2032000" cy="342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7178DEB-B055-4EBE-AF4E-E6C11B20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200" y="2032000"/>
            <a:ext cx="2032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B773137-655E-443E-BBB0-D47576F6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22500"/>
            <a:ext cx="177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02 UI 设计</a:t>
            </a:r>
          </a:p>
        </p:txBody>
      </p:sp>
      <p:cxnSp>
        <p:nvCxnSpPr>
          <p:cNvPr id="65" name="Connector 12"/>
          <p:cNvCxnSpPr/>
          <p:nvPr/>
        </p:nvCxnSpPr>
        <p:spPr>
          <a:xfrm xmlns:a="http://schemas.openxmlformats.org/drawingml/2006/main" rot="-24554">
            <a:off x="3124223" y="2724150"/>
            <a:ext cx="177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E101D35-F998-41A4-B4F3-058B0D96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21000"/>
            <a:ext cx="1778000" cy="2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输入：原型与品牌规范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AI产出：高保真稿、组件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质量闸门：修改轮次、前端还原度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AE5A9996-1EE6-4DCC-8543-D4590332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032000"/>
            <a:ext cx="2032000" cy="342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5027C907-17D0-49DA-95CD-4A89BFDD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032000"/>
            <a:ext cx="2032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CA607A58-129D-466E-B80C-E18E1929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00" y="2222500"/>
            <a:ext cx="177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03 前端开发</a:t>
            </a:r>
          </a:p>
        </p:txBody>
      </p:sp>
      <p:cxnSp>
        <p:nvCxnSpPr>
          <p:cNvPr id="70" name="Connector 17"/>
          <p:cNvCxnSpPr/>
          <p:nvPr/>
        </p:nvCxnSpPr>
        <p:spPr>
          <a:xfrm xmlns:a="http://schemas.openxmlformats.org/drawingml/2006/main" rot="-24554">
            <a:off x="5359423" y="2724150"/>
            <a:ext cx="177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F84AAD4-1750-4004-A506-B4A7D6BB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00" y="2921000"/>
            <a:ext cx="1778000" cy="2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输入：设计稿与交互逻辑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AI产出：页面、组件、联调代码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质量闸门：采纳率、Review、CI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4B75348-62AA-4293-9A3F-28BC81B3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32000"/>
            <a:ext cx="2032000" cy="342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74C5089C-76D0-4D8C-909C-5E34A559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32000"/>
            <a:ext cx="2032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1C807B90-B23D-43F8-B5CA-680D333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222500"/>
            <a:ext cx="177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04 后端开发</a:t>
            </a:r>
          </a:p>
        </p:txBody>
      </p:sp>
      <p:cxnSp>
        <p:nvCxnSpPr>
          <p:cNvPr id="75" name="Connector 22"/>
          <p:cNvCxnSpPr/>
          <p:nvPr/>
        </p:nvCxnSpPr>
        <p:spPr>
          <a:xfrm xmlns:a="http://schemas.openxmlformats.org/drawingml/2006/main" rot="-24554">
            <a:off x="7594623" y="2724150"/>
            <a:ext cx="177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38F2560D-0322-45AD-A1B3-6DCD00B1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921000"/>
            <a:ext cx="1778000" cy="2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输入：业务规则与接口约定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AI产出：业务代码、API、文档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质量闸门：单测、安全扫描、缺陷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24D0EBC3-EF84-435D-B495-68EB64C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2032000"/>
            <a:ext cx="2032000" cy="342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8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6A744B1F-4F40-4823-ABB0-E8571D07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2032000"/>
            <a:ext cx="2032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0D7878A1-9734-461A-8841-8D002AC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222500"/>
            <a:ext cx="177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1E50"/>
                </a:solidFill>
                <a:latin typeface="PingFang SC Regular"/>
                <a:ea typeface="PingFang SC Regular"/>
                <a:cs typeface="PingFang SC Regular"/>
              </a:rPr>
              <a:t>05 测试验收</a:t>
            </a:r>
          </a:p>
        </p:txBody>
      </p:sp>
      <p:cxnSp>
        <p:nvCxnSpPr>
          <p:cNvPr id="80" name="Connector 27"/>
          <p:cNvCxnSpPr/>
          <p:nvPr/>
        </p:nvCxnSpPr>
        <p:spPr>
          <a:xfrm xmlns:a="http://schemas.openxmlformats.org/drawingml/2006/main" rot="-24554">
            <a:off x="9779023" y="2724150"/>
            <a:ext cx="177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1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76EABCB-07DF-4623-9C26-2FC980AD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21000"/>
            <a:ext cx="1778000" cy="2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输入：PRD与可测版本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AI产出：用例、脚本、报告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 b="1" i="0" u="none">
                <a:solidFill>
                  <a:srgbClr val="4A90E2"/>
                </a:solidFill>
                <a:latin typeface="PingFang SC Regular"/>
                <a:ea typeface="PingFang SC Regular"/>
                <a:cs typeface="PingFang SC Regular"/>
              </a:rPr>
              <a:t>质量闸门：有效率、漏测率、逃逸率</a:t>
            </a:r>
          </a:p>
        </p:txBody>
      </p:sp>
    </p:spTree>
    <p:extLst>
      <p:ext uri="{BB962C8B-B14F-4D97-AF65-F5344CB8AC3E}">
        <p14:creationId xmlns:p14="http://schemas.microsoft.com/office/powerpoint/2010/main" val="85690458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2026-07-23T07:07:05.2020000Z</dcterms:created>
  <dcterms:modified xsi:type="dcterms:W3CDTF">2026-07-23T07:07:05.2020000Z</dcterms:modified>
</coreProperties>
</file>