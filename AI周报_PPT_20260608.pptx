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51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6350">
            <a:solidFill>
              <a:srgbClr val="151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51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151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>
            <a:solidFill>
              <a:srgbClr val="151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>
            <a:solidFill>
              <a:srgbClr val="151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151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51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51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151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>
            <a:solidFill>
              <a:srgbClr val="151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51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151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6350">
            <a:solidFill>
              <a:srgbClr val="151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51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6350">
            <a:solidFill>
              <a:srgbClr val="151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6350">
            <a:solidFill>
              <a:srgbClr val="151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151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6350">
            <a:solidFill>
              <a:srgbClr val="151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6350">
            <a:solidFill>
              <a:srgbClr val="151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151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6350">
            <a:solidFill>
              <a:srgbClr val="151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31520" y="731520"/>
            <a:ext cx="27432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731520"/>
            <a:ext cx="25400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155680" y="731520"/>
            <a:ext cx="27432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55680" y="731520"/>
            <a:ext cx="25400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5760720"/>
            <a:ext cx="27432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5760720"/>
            <a:ext cx="25400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155680" y="5760720"/>
            <a:ext cx="27432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155680" y="5760720"/>
            <a:ext cx="25400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AI 信息周报</a:t>
            </a:r>
          </a:p>
          <a:p>
            <a:pPr algn="l">
              <a:spcBef>
                <a:spcPts val="800"/>
              </a:spcBef>
              <a:defRPr sz="2200" b="0">
                <a:solidFill>
                  <a:srgbClr val="8E94A8"/>
                </a:solidFill>
                <a:latin typeface="Microsoft YaHei"/>
              </a:defRPr>
            </a:pPr>
            <a:r>
              <a:t>Artificial Intelligence Weekly Report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371600" y="3108960"/>
            <a:ext cx="3657600" cy="0"/>
          </a:xfrm>
          <a:prstGeom prst="line">
            <a:avLst/>
          </a:prstGeom>
          <a:ln w="381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371600" y="33832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6A7E"/>
                </a:solidFill>
                <a:latin typeface="Microsoft YaHei"/>
              </a:defRPr>
            </a:pPr>
            <a:r>
              <a:t>2026/06/08  ·  第 23 周  ·  周一发布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71600" y="4937760"/>
            <a:ext cx="1737360" cy="41148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00D4FF"/>
                </a:solidFill>
                <a:latin typeface="SF Mono"/>
              </a:defRPr>
            </a:pPr>
            <a:r>
              <a:t>#商业化破局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4937760"/>
            <a:ext cx="1737360" cy="41148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00D4FF"/>
                </a:solidFill>
                <a:latin typeface="SF Mono"/>
              </a:defRPr>
            </a:pPr>
            <a:r>
              <a:t>#超级入口重构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212080" y="4937760"/>
            <a:ext cx="1737360" cy="41148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00D4FF"/>
                </a:solidFill>
                <a:latin typeface="SF Mono"/>
              </a:defRPr>
            </a:pPr>
            <a:r>
              <a:t>#具身智能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0" y="4937760"/>
            <a:ext cx="1737360" cy="41148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00D4FF"/>
                </a:solidFill>
                <a:latin typeface="SF Mono"/>
              </a:defRPr>
            </a:pPr>
            <a:r>
              <a:t>#端侧AI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52560" y="4937760"/>
            <a:ext cx="1737360" cy="41148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00D4FF"/>
                </a:solidFill>
                <a:latin typeface="SF Mono"/>
              </a:defRPr>
            </a:pPr>
            <a:r>
              <a:t>#AI安全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本周速览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94A8"/>
                </a:solidFill>
                <a:latin typeface="Microsoft YaHei"/>
              </a:defRPr>
            </a:pPr>
            <a:r>
              <a:t>WEEKLY OVERVIEW  ·  7 条关键信息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554480"/>
            <a:ext cx="2468880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2011680"/>
            <a:ext cx="2560320" cy="192024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豆包正式收费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94A8"/>
                </a:solidFill>
                <a:latin typeface="Microsoft YaHei"/>
              </a:defRPr>
            </a:pPr>
            <a:r>
              <a:t>月活3.45亿</a:t>
            </a:r>
            <a:br/>
            <a:r>
              <a:t>三档付费方案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011680"/>
            <a:ext cx="2560320" cy="192024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148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7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651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OpenAI 机器人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1089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94A8"/>
                </a:solidFill>
                <a:latin typeface="Microsoft YaHei"/>
              </a:defRPr>
            </a:pPr>
            <a:r>
              <a:t>具身智能新部门</a:t>
            </a:r>
            <a:br/>
            <a:r>
              <a:t>直面特斯拉竞争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011680"/>
            <a:ext cx="2560320" cy="192024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3AED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651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英伟达 AI PC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1089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94A8"/>
                </a:solidFill>
                <a:latin typeface="Microsoft YaHei"/>
              </a:defRPr>
            </a:pPr>
            <a:r>
              <a:t>N1X芯片发布</a:t>
            </a:r>
            <a:br/>
            <a:r>
              <a:t>端侧AI落地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2011680"/>
            <a:ext cx="2560320" cy="192024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2148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651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宇树科技过会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31089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94A8"/>
                </a:solidFill>
                <a:latin typeface="Microsoft YaHei"/>
              </a:defRPr>
            </a:pPr>
            <a:r>
              <a:t>73天闪电过会</a:t>
            </a:r>
            <a:br/>
            <a:r>
              <a:t>人形机器人第一股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069080"/>
            <a:ext cx="2560320" cy="192024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2062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09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GPT-5.5 推送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663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94A8"/>
                </a:solidFill>
                <a:latin typeface="Microsoft YaHei"/>
              </a:defRPr>
            </a:pPr>
            <a:r>
              <a:t>幻觉率降52.5%</a:t>
            </a:r>
            <a:br/>
            <a:r>
              <a:t>推理速度×3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4069080"/>
            <a:ext cx="2560320" cy="192024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1880" y="42062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7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4709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微信 AI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51663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94A8"/>
                </a:solidFill>
                <a:latin typeface="Microsoft YaHei"/>
              </a:defRPr>
            </a:pPr>
            <a:r>
              <a:t>14亿用户入口</a:t>
            </a:r>
            <a:br/>
            <a:r>
              <a:t>本月上线测试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4069080"/>
            <a:ext cx="2560320" cy="192024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42062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3AED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709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Claude Code 漏洞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1663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94A8"/>
                </a:solidFill>
                <a:latin typeface="Microsoft YaHei"/>
              </a:defRPr>
            </a:pPr>
            <a:r>
              <a:t>AI供应链安全</a:t>
            </a:r>
            <a:br/>
            <a:r>
              <a:t>工具链攻击预警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A7E"/>
                </a:solidFill>
                <a:latin typeface="Microsoft YaHei"/>
              </a:defRPr>
            </a:pPr>
            <a:r>
              <a:t>数据来源：公开报道整理  ·  AI周报团队出品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548640"/>
            <a:ext cx="1097280" cy="3657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商业化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豆包 6 月下旬正式收费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64008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💡  月活 3.45 亿的豆包，终于迈出商业化第一步。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3383280" cy="109728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94A8"/>
                </a:solidFill>
                <a:latin typeface="Microsoft YaHei"/>
              </a:defRPr>
            </a:pPr>
            <a:r>
              <a:t>标准版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Microsoft YaHei"/>
              </a:defRPr>
            </a:pPr>
            <a:r>
              <a:t>¥68/月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A7E"/>
                </a:solidFill>
                <a:latin typeface="Microsoft YaHei"/>
              </a:defRPr>
            </a:pPr>
            <a:r>
              <a:t>日常辅助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834640"/>
            <a:ext cx="3383280" cy="109728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926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94A8"/>
                </a:solidFill>
                <a:latin typeface="Microsoft YaHei"/>
              </a:defRPr>
            </a:pPr>
            <a:r>
              <a:t>加强版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Microsoft YaHei"/>
              </a:defRPr>
            </a:pPr>
            <a:r>
              <a:t>¥200/月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611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A7E"/>
                </a:solidFill>
                <a:latin typeface="Microsoft YaHei"/>
              </a:defRPr>
            </a:pPr>
            <a:r>
              <a:t>专业创作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834640"/>
            <a:ext cx="3383280" cy="109728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926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94A8"/>
                </a:solidFill>
                <a:latin typeface="Microsoft YaHei"/>
              </a:defRPr>
            </a:pPr>
            <a:r>
              <a:t>专业版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Microsoft YaHei"/>
              </a:defRPr>
            </a:pPr>
            <a:r>
              <a:t>¥500/月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611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A7E"/>
                </a:solidFill>
                <a:latin typeface="Microsoft YaHei"/>
              </a:defRPr>
            </a:pPr>
            <a:r>
              <a:t>企业级应用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Microsoft YaHei"/>
              </a:defRPr>
            </a:pPr>
            <a:r>
              <a:t>关键解读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800600"/>
            <a:ext cx="76200" cy="76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09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日均 Token 消耗从 1200 亿飙升至 120 万亿，算力成本压力巨大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212080"/>
            <a:ext cx="76200" cy="76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120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基础功能继续免费，付费针对 PPT 生成、数据分析、影视制作等复杂任务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623560"/>
            <a:ext cx="76200" cy="76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532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腾讯元宝、阿里千问暂未公布收费计划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A7E"/>
                </a:solidFill>
                <a:latin typeface="Microsoft YaHei"/>
              </a:defRPr>
            </a:pPr>
            <a:r>
              <a:t>发布时间：2026-06-02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A7E"/>
                </a:solidFill>
                <a:latin typeface="Microsoft YaHei"/>
              </a:defRPr>
            </a:pPr>
            <a:r>
              <a:t>2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7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548640"/>
            <a:ext cx="1097280" cy="36576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具身智能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OpenAI 成立机器人部门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64008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💡  "生成式 AI → 世界模型 → 机器人执行"——完整路径浮出水面。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3383280" cy="109728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94A8"/>
                </a:solidFill>
                <a:latin typeface="Microsoft YaHei"/>
              </a:defRPr>
            </a:pPr>
            <a:r>
              <a:t>负责人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7FF"/>
                </a:solidFill>
                <a:latin typeface="Microsoft YaHei"/>
              </a:defRPr>
            </a:pPr>
            <a:r>
              <a:t>Aditya Ramesh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A7E"/>
                </a:solidFill>
                <a:latin typeface="Microsoft YaHei"/>
              </a:defRPr>
            </a:pPr>
            <a:r>
              <a:t>Sora 核心开发者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834640"/>
            <a:ext cx="3383280" cy="109728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926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94A8"/>
                </a:solidFill>
                <a:latin typeface="Microsoft YaHei"/>
              </a:defRPr>
            </a:pPr>
            <a:r>
              <a:t>路线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7FF"/>
                </a:solidFill>
                <a:latin typeface="Microsoft YaHei"/>
              </a:defRPr>
            </a:pPr>
            <a:r>
              <a:t>工业 → 消费级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611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A7E"/>
                </a:solidFill>
                <a:latin typeface="Microsoft YaHei"/>
              </a:defRPr>
            </a:pPr>
            <a:r>
              <a:t>两步走战略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834640"/>
            <a:ext cx="3383280" cy="109728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926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94A8"/>
                </a:solidFill>
                <a:latin typeface="Microsoft YaHei"/>
              </a:defRPr>
            </a:pPr>
            <a:r>
              <a:t>竞争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7FF"/>
                </a:solidFill>
                <a:latin typeface="Microsoft YaHei"/>
              </a:defRPr>
            </a:pPr>
            <a:r>
              <a:t>Optimus / Figure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611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A7E"/>
                </a:solidFill>
                <a:latin typeface="Microsoft YaHei"/>
              </a:defRPr>
            </a:pPr>
            <a:r>
              <a:t>直接竞争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7FF"/>
                </a:solidFill>
                <a:latin typeface="Microsoft YaHei"/>
              </a:defRPr>
            </a:pPr>
            <a:r>
              <a:t>关键解读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800600"/>
            <a:ext cx="76200" cy="762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09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世界模拟能力 × 物理机器人 = 具身智能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212080"/>
            <a:ext cx="76200" cy="762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120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由 Sora 核心开发者 Aditya Ramesh 带队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623560"/>
            <a:ext cx="76200" cy="762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532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从工业机器人起步，最终造个人消费级机器人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A7E"/>
                </a:solidFill>
                <a:latin typeface="Microsoft YaHei"/>
              </a:defRPr>
            </a:pPr>
            <a:r>
              <a:t>发布时间：2026-06-02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A7E"/>
                </a:solidFill>
                <a:latin typeface="Microsoft YaHei"/>
              </a:defRPr>
            </a:pPr>
            <a:r>
              <a:t>3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C3AED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548640"/>
            <a:ext cx="109728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端侧AI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英伟达发布 RTX Spark AI PC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64008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💡  黄仁勋 GTC 台北：AI 的终点不在云端，而在你桌面上。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3383280" cy="109728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94A8"/>
                </a:solidFill>
                <a:latin typeface="Microsoft YaHei"/>
              </a:defRPr>
            </a:pPr>
            <a:r>
              <a:t>N1X 芯片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C3AED"/>
                </a:solidFill>
                <a:latin typeface="Microsoft YaHei"/>
              </a:defRPr>
            </a:pPr>
            <a:r>
              <a:t>3nm / 128GB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A7E"/>
                </a:solidFill>
                <a:latin typeface="Microsoft YaHei"/>
              </a:defRPr>
            </a:pPr>
            <a:r>
              <a:t>联发科联合研发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834640"/>
            <a:ext cx="3383280" cy="109728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926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94A8"/>
                </a:solidFill>
                <a:latin typeface="Microsoft YaHei"/>
              </a:defRPr>
            </a:pPr>
            <a:r>
              <a:t>Isaac GR00T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C3AED"/>
                </a:solidFill>
                <a:latin typeface="Microsoft YaHei"/>
              </a:defRPr>
            </a:pPr>
            <a:r>
              <a:t>机器人平台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611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A7E"/>
                </a:solidFill>
                <a:latin typeface="Microsoft YaHei"/>
              </a:defRPr>
            </a:pPr>
            <a:r>
              <a:t>人形机器人开发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834640"/>
            <a:ext cx="3383280" cy="109728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926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94A8"/>
                </a:solidFill>
                <a:latin typeface="Microsoft YaHei"/>
              </a:defRPr>
            </a:pPr>
            <a:r>
              <a:t>Cosmos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C3AED"/>
                </a:solidFill>
                <a:latin typeface="Microsoft YaHei"/>
              </a:defRPr>
            </a:pPr>
            <a:r>
              <a:t>全模态开源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611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A7E"/>
                </a:solidFill>
                <a:latin typeface="Microsoft YaHei"/>
              </a:defRPr>
            </a:pPr>
            <a:r>
              <a:t>物理AI基础模型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Microsoft YaHei"/>
              </a:defRPr>
            </a:pPr>
            <a:r>
              <a:t>关键解读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800600"/>
            <a:ext cx="76200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09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本地直接运行 AI 智能体，无需联网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212080"/>
            <a:ext cx="76200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120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华硕、戴尔、联想等秋季推出相关产品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623560"/>
            <a:ext cx="76200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532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全球首款完全开源的全模态物理 AI 基础模型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A7E"/>
                </a:solidFill>
                <a:latin typeface="Microsoft YaHei"/>
              </a:defRPr>
            </a:pPr>
            <a:r>
              <a:t>发布时间：2026-06-02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A7E"/>
                </a:solidFill>
                <a:latin typeface="Microsoft YaHei"/>
              </a:defRPr>
            </a:pPr>
            <a:r>
              <a:t>4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0B981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548640"/>
            <a:ext cx="109728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资本市场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宇树科技 73 天闪电过会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64008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💡  A 股"人形机器人第一股"落定，赛道正式进入资本时代。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3383280" cy="109728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94A8"/>
                </a:solidFill>
                <a:latin typeface="Microsoft YaHei"/>
              </a:defRPr>
            </a:pPr>
            <a:r>
              <a:t>过会速度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Microsoft YaHei"/>
              </a:defRPr>
            </a:pPr>
            <a:r>
              <a:t>73 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A7E"/>
                </a:solidFill>
                <a:latin typeface="Microsoft YaHei"/>
              </a:defRPr>
            </a:pPr>
            <a:r>
              <a:t>受理→过会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834640"/>
            <a:ext cx="3383280" cy="109728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926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94A8"/>
                </a:solidFill>
                <a:latin typeface="Microsoft YaHei"/>
              </a:defRPr>
            </a:pPr>
            <a:r>
              <a:t>募资规模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Microsoft YaHei"/>
              </a:defRPr>
            </a:pPr>
            <a:r>
              <a:t>42.02 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611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A7E"/>
                </a:solidFill>
                <a:latin typeface="Microsoft YaHei"/>
              </a:defRPr>
            </a:pPr>
            <a:r>
              <a:t>拟募资金额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834640"/>
            <a:ext cx="3383280" cy="109728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926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94A8"/>
                </a:solidFill>
                <a:latin typeface="Microsoft YaHei"/>
              </a:defRPr>
            </a:pPr>
            <a:r>
              <a:t>Q1 营收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Microsoft YaHei"/>
              </a:defRPr>
            </a:pPr>
            <a:r>
              <a:t>4.23 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611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A7E"/>
                </a:solidFill>
                <a:latin typeface="Microsoft YaHei"/>
              </a:defRPr>
            </a:pPr>
            <a:r>
              <a:t>2026 第一季度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Microsoft YaHei"/>
              </a:defRPr>
            </a:pPr>
            <a:r>
              <a:t>关键解读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800600"/>
            <a:ext cx="76200" cy="76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09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腾讯、阿里持股，产业资本加持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212080"/>
            <a:ext cx="76200" cy="76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120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人形机器人赛道正式进入资本市场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623560"/>
            <a:ext cx="76200" cy="76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532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标志性事件：从产业爆发到资本闭环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A7E"/>
                </a:solidFill>
                <a:latin typeface="Microsoft YaHei"/>
              </a:defRPr>
            </a:pPr>
            <a:r>
              <a:t>发布时间：2026-06-02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A7E"/>
                </a:solidFill>
                <a:latin typeface="Microsoft YaHei"/>
              </a:defRPr>
            </a:pPr>
            <a:r>
              <a:t>5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548640"/>
            <a:ext cx="1097280" cy="3657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模型突破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OpenAI GPT-5.5 全量推送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64008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💡  AI 正式进入「生产级」时代。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3383280" cy="109728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94A8"/>
                </a:solidFill>
                <a:latin typeface="Microsoft YaHei"/>
              </a:defRPr>
            </a:pPr>
            <a:r>
              <a:t>幻觉率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Microsoft YaHei"/>
              </a:defRPr>
            </a:pPr>
            <a:r>
              <a:t>↓ 52.5%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A7E"/>
                </a:solidFill>
                <a:latin typeface="Microsoft YaHei"/>
              </a:defRPr>
            </a:pPr>
            <a:r>
              <a:t>断崖式下降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834640"/>
            <a:ext cx="3383280" cy="109728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926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94A8"/>
                </a:solidFill>
                <a:latin typeface="Microsoft YaHei"/>
              </a:defRPr>
            </a:pPr>
            <a:r>
              <a:t>推理速度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Microsoft YaHei"/>
              </a:defRPr>
            </a:pPr>
            <a:r>
              <a:t>× 3 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611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A7E"/>
                </a:solidFill>
                <a:latin typeface="Microsoft YaHei"/>
              </a:defRPr>
            </a:pPr>
            <a:r>
              <a:t>显著提升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834640"/>
            <a:ext cx="3383280" cy="109728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926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94A8"/>
                </a:solidFill>
                <a:latin typeface="Microsoft YaHei"/>
              </a:defRPr>
            </a:pPr>
            <a:r>
              <a:t>上下文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Microsoft YaHei"/>
              </a:defRPr>
            </a:pPr>
            <a:r>
              <a:t>100 万 Token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611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A7E"/>
                </a:solidFill>
                <a:latin typeface="Microsoft YaHei"/>
              </a:defRPr>
            </a:pPr>
            <a:r>
              <a:t>突破上限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Microsoft YaHei"/>
              </a:defRPr>
            </a:pPr>
            <a:r>
              <a:t>关键解读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800600"/>
            <a:ext cx="76200" cy="76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09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推理速度与 GPT-5.4 持平，但 Token 用量减少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212080"/>
            <a:ext cx="76200" cy="76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120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响应更快捷，成本更低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623560"/>
            <a:ext cx="76200" cy="76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532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标志着 AI 从"可用"迈向"可靠"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A7E"/>
                </a:solidFill>
                <a:latin typeface="Microsoft YaHei"/>
              </a:defRPr>
            </a:pPr>
            <a:r>
              <a:t>发布时间：2026-05-28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A7E"/>
                </a:solidFill>
                <a:latin typeface="Microsoft YaHei"/>
              </a:defRPr>
            </a:pPr>
            <a:r>
              <a:t>6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7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548640"/>
            <a:ext cx="1097280" cy="36576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超级入口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微信即将推出 AI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64008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💡  从"连接人与服务"升级为"Agent 代替人去调用服务"。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3383280" cy="109728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94A8"/>
                </a:solidFill>
                <a:latin typeface="Microsoft YaHei"/>
              </a:defRPr>
            </a:pPr>
            <a:r>
              <a:t>用户基数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7FF"/>
                </a:solidFill>
                <a:latin typeface="Microsoft YaHei"/>
              </a:defRPr>
            </a:pPr>
            <a:r>
              <a:t>14 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A7E"/>
                </a:solidFill>
                <a:latin typeface="Microsoft YaHei"/>
              </a:defRPr>
            </a:pPr>
            <a:r>
              <a:t>微信全量用户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834640"/>
            <a:ext cx="3383280" cy="109728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926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94A8"/>
                </a:solidFill>
                <a:latin typeface="Microsoft YaHei"/>
              </a:defRPr>
            </a:pPr>
            <a:r>
              <a:t>核心能力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7FF"/>
                </a:solidFill>
                <a:latin typeface="Microsoft YaHei"/>
              </a:defRPr>
            </a:pPr>
            <a:r>
              <a:t>调用小程序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611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A7E"/>
                </a:solidFill>
                <a:latin typeface="Microsoft YaHei"/>
              </a:defRPr>
            </a:pPr>
            <a:r>
              <a:t>自动完成任务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834640"/>
            <a:ext cx="3383280" cy="109728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926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94A8"/>
                </a:solidFill>
                <a:latin typeface="Microsoft YaHei"/>
              </a:defRPr>
            </a:pPr>
            <a:r>
              <a:t>时间线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7FF"/>
                </a:solidFill>
                <a:latin typeface="Microsoft YaHei"/>
              </a:defRPr>
            </a:pPr>
            <a:r>
              <a:t>本月上线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611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A7E"/>
                </a:solidFill>
                <a:latin typeface="Microsoft YaHei"/>
              </a:defRPr>
            </a:pPr>
            <a:r>
              <a:t>最快6月测试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7FF"/>
                </a:solidFill>
                <a:latin typeface="Microsoft YaHei"/>
              </a:defRPr>
            </a:pPr>
            <a:r>
              <a:t>关键解读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800600"/>
            <a:ext cx="76200" cy="762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09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应用内自动调用小程序完成各类复杂任务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212080"/>
            <a:ext cx="76200" cy="762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120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超级 App 的流量分配逻辑彻底改写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623560"/>
            <a:ext cx="76200" cy="762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532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腾讯借微信生态实现 Agent 弯道超车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A7E"/>
                </a:solidFill>
                <a:latin typeface="Microsoft YaHei"/>
              </a:defRPr>
            </a:pPr>
            <a:r>
              <a:t>发布时间：2026-06-02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A7E"/>
                </a:solidFill>
                <a:latin typeface="Microsoft YaHei"/>
              </a:defRPr>
            </a:pPr>
            <a:r>
              <a:t>7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C3AED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548640"/>
            <a:ext cx="109728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AI安全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微软警告：Claude Code 存在漏洞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64008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💡  AI 供应链安全敲响警钟——攻击面从"模型"扩展到"工具链"。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3383280" cy="109728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94A8"/>
                </a:solidFill>
                <a:latin typeface="Microsoft YaHei"/>
              </a:defRPr>
            </a:pPr>
            <a:r>
              <a:t>发现方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C3AED"/>
                </a:solidFill>
                <a:latin typeface="Microsoft YaHei"/>
              </a:defRPr>
            </a:pPr>
            <a:r>
              <a:t>微软威胁情报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A7E"/>
                </a:solidFill>
                <a:latin typeface="Microsoft YaHei"/>
              </a:defRPr>
            </a:pPr>
            <a:r>
              <a:t>安全团队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834640"/>
            <a:ext cx="3383280" cy="109728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926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94A8"/>
                </a:solidFill>
                <a:latin typeface="Microsoft YaHei"/>
              </a:defRPr>
            </a:pPr>
            <a:r>
              <a:t>漏洞类型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C3AED"/>
                </a:solidFill>
                <a:latin typeface="Microsoft YaHei"/>
              </a:defRPr>
            </a:pPr>
            <a:r>
              <a:t>提示词注入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611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A7E"/>
                </a:solidFill>
                <a:latin typeface="Microsoft YaHei"/>
              </a:defRPr>
            </a:pPr>
            <a:r>
              <a:t>CI/CD 攻击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834640"/>
            <a:ext cx="3383280" cy="109728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926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94A8"/>
                </a:solidFill>
                <a:latin typeface="Microsoft YaHei"/>
              </a:defRPr>
            </a:pPr>
            <a:r>
              <a:t>影响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C3AED"/>
                </a:solidFill>
                <a:latin typeface="Microsoft YaHei"/>
              </a:defRPr>
            </a:pPr>
            <a:r>
              <a:t>凭证泄露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611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A7E"/>
                </a:solidFill>
                <a:latin typeface="Microsoft YaHei"/>
              </a:defRPr>
            </a:pPr>
            <a:r>
              <a:t>GitHub Token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Microsoft YaHei"/>
              </a:defRPr>
            </a:pPr>
            <a:r>
              <a:t>关键解读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800600"/>
            <a:ext cx="76200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09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攻击者可通过提示词注入窃取敏感凭证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212080"/>
            <a:ext cx="76200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120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AI 辅助开发场景下的 AI 供应链安全典型案例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623560"/>
            <a:ext cx="76200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532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安全边界从"模型安全"扩展到全工具链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A7E"/>
                </a:solidFill>
                <a:latin typeface="Microsoft YaHei"/>
              </a:defRPr>
            </a:pPr>
            <a:r>
              <a:t>发布时间：2026-06-07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A7E"/>
                </a:solidFill>
                <a:latin typeface="Microsoft YaHei"/>
              </a:defRPr>
            </a:pPr>
            <a:r>
              <a:t>8 /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本周要点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94A8"/>
                </a:solidFill>
                <a:latin typeface="Microsoft YaHei"/>
              </a:defRPr>
            </a:pPr>
            <a:r>
              <a:t>KEY TAKEAWAYS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554480"/>
            <a:ext cx="2468880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2011680"/>
            <a:ext cx="10698480" cy="77724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50800" cy="7772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057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Microsoft YaHei"/>
              </a:defRPr>
            </a:pPr>
            <a:r>
              <a:t>商业化破局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377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E94A8"/>
                </a:solidFill>
                <a:latin typeface="Microsoft YaHei"/>
              </a:defRPr>
            </a:pPr>
            <a:r>
              <a:t>从"烧钱抢流量"到"为算力买单"</a:t>
            </a:r>
            <a:br/>
            <a:r>
              <a:t>豆包收费是行业风向标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10698480" cy="77724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50800" cy="77724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63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971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7FF"/>
                </a:solidFill>
                <a:latin typeface="Microsoft YaHei"/>
              </a:defRPr>
            </a:pPr>
            <a:r>
              <a:t>超级入口重构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291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E94A8"/>
                </a:solidFill>
                <a:latin typeface="Microsoft YaHei"/>
              </a:defRPr>
            </a:pPr>
            <a:r>
              <a:t>Agent 重塑超级 App</a:t>
            </a:r>
            <a:br/>
            <a:r>
              <a:t>流量分配逻辑彻底改写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10698480" cy="77724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840480"/>
            <a:ext cx="50800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977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886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Microsoft YaHei"/>
              </a:defRPr>
            </a:pPr>
            <a:r>
              <a:t>具身智能大爆发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206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E94A8"/>
                </a:solidFill>
                <a:latin typeface="Microsoft YaHei"/>
              </a:defRPr>
            </a:pPr>
            <a:r>
              <a:t>"世界模型"与"物理躯体"合体</a:t>
            </a:r>
            <a:br/>
            <a:r>
              <a:t>软件定义硬件的时代来临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54880"/>
            <a:ext cx="10698480" cy="77724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754880"/>
            <a:ext cx="5080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892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800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Microsoft YaHei"/>
              </a:defRPr>
            </a:pPr>
            <a:r>
              <a:t>端侧与入口争夺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1206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E94A8"/>
                </a:solidFill>
                <a:latin typeface="Microsoft YaHei"/>
              </a:defRPr>
            </a:pPr>
            <a:r>
              <a:t>Agent 成为新一代操作系统</a:t>
            </a:r>
            <a:br/>
            <a:r>
              <a:t>从云到端的战场全面铺开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669280"/>
            <a:ext cx="10698480" cy="77724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669280"/>
            <a:ext cx="50800" cy="7772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806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🛡️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715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Microsoft YaHei"/>
              </a:defRPr>
            </a:pPr>
            <a:r>
              <a:t>安全新战场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6035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E94A8"/>
                </a:solidFill>
                <a:latin typeface="Microsoft YaHei"/>
              </a:defRPr>
            </a:pPr>
            <a:r>
              <a:t>AI 安全从"模型安全"扩展到</a:t>
            </a:r>
            <a:br/>
            <a:r>
              <a:t>"AI 供应链安全"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A7E"/>
                </a:solidFill>
                <a:latin typeface="Microsoft YaHei"/>
              </a:defRPr>
            </a:pPr>
            <a:r>
              <a:t>AI 周报团队  ·  每周一发布  ·  欢迎订阅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